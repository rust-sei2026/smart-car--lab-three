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10" r:id="rId1"/>
    <p:sldMasterId id="2147483912" r:id="rId2"/>
    <p:sldMasterId id="2147483923" r:id="rId3"/>
    <p:sldMasterId id="2147483929" r:id="rId4"/>
    <p:sldMasterId id="2147483937" r:id="rId5"/>
  </p:sldMasterIdLst>
  <p:notesMasterIdLst>
    <p:notesMasterId r:id="rId45"/>
  </p:notesMasterIdLst>
  <p:handoutMasterIdLst>
    <p:handoutMasterId r:id="rId46"/>
  </p:handoutMasterIdLst>
  <p:sldIdLst>
    <p:sldId id="432" r:id="rId6"/>
    <p:sldId id="257" r:id="rId7"/>
    <p:sldId id="258" r:id="rId8"/>
    <p:sldId id="440" r:id="rId9"/>
    <p:sldId id="437" r:id="rId10"/>
    <p:sldId id="263" r:id="rId11"/>
    <p:sldId id="260" r:id="rId12"/>
    <p:sldId id="264" r:id="rId13"/>
    <p:sldId id="504" r:id="rId14"/>
    <p:sldId id="480" r:id="rId15"/>
    <p:sldId id="505" r:id="rId16"/>
    <p:sldId id="530" r:id="rId17"/>
    <p:sldId id="529" r:id="rId18"/>
    <p:sldId id="531" r:id="rId19"/>
    <p:sldId id="545" r:id="rId20"/>
    <p:sldId id="562" r:id="rId21"/>
    <p:sldId id="517" r:id="rId22"/>
    <p:sldId id="518" r:id="rId23"/>
    <p:sldId id="508" r:id="rId24"/>
    <p:sldId id="510" r:id="rId25"/>
    <p:sldId id="511" r:id="rId26"/>
    <p:sldId id="512" r:id="rId27"/>
    <p:sldId id="513" r:id="rId28"/>
    <p:sldId id="560" r:id="rId29"/>
    <p:sldId id="515" r:id="rId30"/>
    <p:sldId id="555" r:id="rId31"/>
    <p:sldId id="528" r:id="rId32"/>
    <p:sldId id="420" r:id="rId33"/>
    <p:sldId id="484" r:id="rId34"/>
    <p:sldId id="561" r:id="rId35"/>
    <p:sldId id="551" r:id="rId36"/>
    <p:sldId id="310" r:id="rId37"/>
    <p:sldId id="331" r:id="rId38"/>
    <p:sldId id="554" r:id="rId39"/>
    <p:sldId id="549" r:id="rId40"/>
    <p:sldId id="519" r:id="rId41"/>
    <p:sldId id="333" r:id="rId42"/>
    <p:sldId id="394" r:id="rId43"/>
    <p:sldId id="433" r:id="rId44"/>
  </p:sldIdLst>
  <p:sldSz cx="12192000" cy="6858000"/>
  <p:notesSz cx="6797675" cy="9926638"/>
  <p:embeddedFontLst>
    <p:embeddedFont>
      <p:font typeface="Consolas" panose="020B0609020204030204" pitchFamily="49" charset="0"/>
      <p:regular r:id="rId47"/>
      <p:bold r:id="rId48"/>
      <p:italic r:id="rId49"/>
      <p:boldItalic r:id="rId50"/>
    </p:embeddedFont>
    <p:embeddedFont>
      <p:font typeface="Huawei Sans" panose="020C0503030203020204" pitchFamily="34" charset="0"/>
      <p:regular r:id="rId51"/>
      <p:bold r:id="rId52"/>
    </p:embeddedFont>
    <p:embeddedFont>
      <p:font typeface="方正兰亭黑简体" panose="02000000000000000000" pitchFamily="2" charset="-122"/>
      <p:regular r:id="rId53"/>
    </p:embeddedFont>
    <p:embeddedFont>
      <p:font typeface="微软雅黑" panose="020B0503020204020204" pitchFamily="34" charset="-122"/>
      <p:regular r:id="rId54"/>
      <p:bold r:id="rId55"/>
    </p:embeddedFont>
  </p:embeddedFont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ailujun" initials="S" lastIdx="1" clrIdx="0">
    <p:extLst>
      <p:ext uri="{19B8F6BF-5375-455C-9EA6-DF929625EA0E}">
        <p15:presenceInfo xmlns:p15="http://schemas.microsoft.com/office/powerpoint/2012/main" userId="S-1-5-21-147214757-305610072-1517763936-402554" providerId="AD"/>
      </p:ext>
    </p:extLst>
  </p:cmAuthor>
  <p:cmAuthor id="2" name="Wuxiaojun" initials="W" lastIdx="3" clrIdx="1">
    <p:extLst>
      <p:ext uri="{19B8F6BF-5375-455C-9EA6-DF929625EA0E}">
        <p15:presenceInfo xmlns:p15="http://schemas.microsoft.com/office/powerpoint/2012/main" userId="S-1-5-21-147214757-305610072-1517763936-5074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C7000B"/>
    <a:srgbClr val="99CCCC"/>
    <a:srgbClr val="575756"/>
    <a:srgbClr val="FFFFFF"/>
    <a:srgbClr val="DD4654"/>
    <a:srgbClr val="F3D2D5"/>
    <a:srgbClr val="E6A8AD"/>
    <a:srgbClr val="E57B84"/>
    <a:srgbClr val="E57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3775" autoAdjust="0"/>
  </p:normalViewPr>
  <p:slideViewPr>
    <p:cSldViewPr snapToGrid="0" snapToObjects="1">
      <p:cViewPr varScale="1">
        <p:scale>
          <a:sx n="63" d="100"/>
          <a:sy n="63" d="100"/>
        </p:scale>
        <p:origin x="62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5" d="100"/>
          <a:sy n="45" d="100"/>
        </p:scale>
        <p:origin x="1832" y="56"/>
      </p:cViewPr>
      <p:guideLst>
        <p:guide orient="horz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font" Target="fonts/font2.fntdata"/><Relationship Id="rId56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59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3.fntdata"/><Relationship Id="rId57" Type="http://schemas.openxmlformats.org/officeDocument/2006/relationships/presProps" Target="pres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6.fntdata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5/21/2026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2880" y="766800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t" anchorCtr="0"/>
          <a:lstStyle/>
          <a:p>
            <a:endParaRPr lang="en-US"/>
          </a:p>
        </p:txBody>
      </p:sp>
      <p:sp>
        <p:nvSpPr>
          <p:cNvPr id="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t" anchorCtr="0" compatLnSpc="1">
            <a:prstTxWarp prst="textNoShape">
              <a:avLst/>
            </a:prstTxWarp>
          </a:bodyPr>
          <a:lstStyle/>
          <a:p>
            <a:pPr marL="180975" lvl="0" indent="-180975" fontAlgn="base">
              <a:spcBef>
                <a:spcPct val="0"/>
              </a:spcBef>
              <a:buSzPct val="70000"/>
              <a:buFont typeface="Wingdings" pitchFamily="2" charset="2"/>
              <a:buChar char="l"/>
            </a:pPr>
            <a:r>
              <a:rPr lang="en-US" dirty="0"/>
              <a:t>Edit Master text styles</a:t>
            </a:r>
          </a:p>
          <a:p>
            <a:pPr marL="541338" lvl="1" indent="-180975" fontAlgn="base">
              <a:spcBef>
                <a:spcPct val="0"/>
              </a:spcBef>
              <a:buSzPct val="60000"/>
              <a:buFont typeface="Wingdings" pitchFamily="2" charset="2"/>
              <a:buChar char="p"/>
            </a:pPr>
            <a:r>
              <a:rPr lang="en-US" dirty="0"/>
              <a:t>Second level</a:t>
            </a:r>
          </a:p>
          <a:p>
            <a:pPr marL="895350" lvl="2" indent="-174625" fontAlgn="base">
              <a:spcBef>
                <a:spcPct val="0"/>
              </a:spcBef>
              <a:buSzPct val="50000"/>
              <a:buFont typeface="Wingdings" pitchFamily="2" charset="2"/>
              <a:buChar char="n"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Clr>
        <a:schemeClr val="bg1">
          <a:lumMod val="50000"/>
        </a:schemeClr>
      </a:buClr>
      <a:buSzPct val="60000"/>
      <a:buFont typeface="Huawei Sans" panose="020C0503030203020204" pitchFamily="34" charset="0"/>
      <a:buChar char="•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371600" indent="0" algn="l" defTabSz="1219304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itchFamily="2" charset="2"/>
      <a:buNone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620000" indent="-180000" algn="l" defTabSz="1219304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itchFamily="2" charset="2"/>
      <a:buChar char="~"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886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2591" userDrawn="1">
          <p15:clr>
            <a:srgbClr val="F26B43"/>
          </p15:clr>
        </p15:guide>
        <p15:guide id="6" pos="4021" userDrawn="1">
          <p15:clr>
            <a:srgbClr val="F26B43"/>
          </p15:clr>
        </p15:guide>
        <p15:guide id="7" pos="279" userDrawn="1">
          <p15:clr>
            <a:srgbClr val="F26B43"/>
          </p15:clr>
        </p15:guide>
        <p15:guide id="8" pos="216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有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`2`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状态的影响，只对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指令发生执行变化，与车当前朝向无关。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339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有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`2`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`FF`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状态的影响，只对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指令发生执行变化，与车当前朝向无关。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520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有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`5`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只剩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状态还需要处理，对于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状态的影响，只对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指令发生执行变化，与车当前朝向无关。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436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开发者测试确保需求完整和代码正确性，测试、实现及提交的命名规范，利用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git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工具小步迭代开发。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实验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主要解决代码膨胀问题和实现主流程的指令的统一处理：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利用模块化设计的任务分解法完成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接口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原子操作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的分层设计，分离关注点解决代码膨胀问题，提升可读性、可维护性和可复用性。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利用语言特性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枚举实现原子操作（任务）的分发，通过任务编排消除主流程的分支处理。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528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任务编排通过原子指令的组合实现复杂指令的功能，同时实现不同指令的统一执行。</a:t>
            </a:r>
          </a:p>
        </p:txBody>
      </p:sp>
    </p:spTree>
    <p:extLst>
      <p:ext uri="{BB962C8B-B14F-4D97-AF65-F5344CB8AC3E}">
        <p14:creationId xmlns:p14="http://schemas.microsoft.com/office/powerpoint/2010/main" val="1943577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2222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411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需求对齐，跑车速度较快，相对普通车辆：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存在一个共有的特殊操作：正常状态下前进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格，倒车状态下后退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跑车速度很快，相比普通车辆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完成基本操作后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还会往前冲一点：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`M`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的操作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指令的操作是完成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L/R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指令操作后再执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次特殊操作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725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接口设计主要讲清楚要尽量不动接口，即使修改也要保证前向兼容性。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接口不应轻易改变，如果必须改变需要考虑前向兼容性：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C++</a:t>
            </a:r>
            <a:r>
              <a:rPr lang="zh-CN" altLang="en-US" dirty="0"/>
              <a:t>可以采用增加一个带默认值的车辆类型参数解决</a:t>
            </a:r>
            <a:r>
              <a:rPr lang="en-US" altLang="zh-CN" dirty="0"/>
              <a:t>`</a:t>
            </a:r>
            <a:r>
              <a:rPr lang="zh-CN" altLang="en-US" dirty="0"/>
              <a:t>前向兼容性</a:t>
            </a:r>
            <a:r>
              <a:rPr lang="en-US" altLang="zh-CN" dirty="0"/>
              <a:t>`</a:t>
            </a:r>
            <a:r>
              <a:rPr lang="zh-CN" altLang="en-US" dirty="0"/>
              <a:t>问题，但</a:t>
            </a:r>
            <a:r>
              <a:rPr lang="en-US" altLang="zh-CN" dirty="0"/>
              <a:t>Rust</a:t>
            </a:r>
            <a:r>
              <a:rPr lang="zh-CN" altLang="en-US" dirty="0"/>
              <a:t>不支持函数参数的默认值，因此我们选择新建接口的解决方案。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可能的设计方案：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：已有构造函数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with_pose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添加一个车辆类型的参数；</a:t>
            </a:r>
            <a:r>
              <a:rPr lang="en-US" altLang="zh-CN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不支持函数参数默认值，不满足接口的兼容性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：新增构造函数（函数名不能为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with_pose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</a:t>
            </a:r>
            <a:r>
              <a:rPr lang="zh-CN" altLang="en-US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；</a:t>
            </a:r>
            <a:r>
              <a:rPr lang="en-US" altLang="zh-CN" sz="1100" u="none" strike="noStrike" kern="1200" baseline="0" dirty="0">
                <a:solidFill>
                  <a:schemeClr val="dk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u="none" strike="noStrike" kern="1200" baseline="0" dirty="0">
                <a:solidFill>
                  <a:schemeClr val="dk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不支持函数重载，新增接口对不是所有客户都需要的，可行但不推荐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3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</a:t>
            </a:r>
            <a:r>
              <a:rPr lang="zh-CN" altLang="en-US" sz="1100" u="none" strike="noStrike" kern="1200" baseline="0" dirty="0">
                <a:solidFill>
                  <a:schemeClr val="tx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在新模块中通过自由函数构造跑车实例；风格不一致，可行但不推荐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方案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4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</a:t>
            </a:r>
            <a:r>
              <a:rPr lang="zh-CN" altLang="en-US" sz="1100" u="none" strike="noStrike" kern="1200" baseline="0" dirty="0">
                <a:solidFill>
                  <a:schemeClr val="tx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在新模块中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新建跑车类型并提供构造函数；</a:t>
            </a:r>
            <a:r>
              <a:rPr lang="zh-CN" altLang="en-US" sz="1100" b="0" i="0" u="none" strike="noStrike" kern="1200" baseline="0" dirty="0">
                <a:solidFill>
                  <a:srgbClr val="000000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不改变已有接口，推荐方案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8931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>
                <a:latin typeface="+mn-ea"/>
              </a:rPr>
              <a:t>参考普通车辆定义跑车的接口</a:t>
            </a:r>
            <a:endParaRPr lang="en-US" altLang="zh-CN" dirty="0">
              <a:latin typeface="+mn-ea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>
              <a:latin typeface="+mn-ea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>
                <a:latin typeface="+mn-ea"/>
              </a:rPr>
              <a:t>通过新接口支持新车辆类型，原有车辆类型接口不变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跑车接口与普通车辆的接口没什么区别，可以直接参考普通车辆的接口定义，包含的接口只需要确保编写跑车用例时可以编译通过。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强调这是一种推荐的方案，但不是唯一的。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这样设计的好处：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不动已有接口，确保使用了这些接口的代码可以保持不变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普通车辆的测试代码可以保持不变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扩展：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枚举或结构体的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non_exhaustive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用法，为了确保添加字段或变体时不破坏前向兼容性，强制要求其它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crate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模式中使用时加通配符（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_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）或任意值（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..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语法解释：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todo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!()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内置宏，用于标记未实现代码，编译通过，但运行会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panic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166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新类型车辆的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指令操作与之前实现并不一致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7724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dirty="0"/>
              <a:t>引入分层</a:t>
            </a:r>
            <a:endParaRPr lang="en-US" altLang="zh-CN" sz="1100" dirty="0"/>
          </a:p>
          <a:p>
            <a:pPr marL="0" indent="0">
              <a:buNone/>
            </a:pPr>
            <a:endParaRPr lang="en-US" altLang="zh-CN" sz="1100" dirty="0"/>
          </a:p>
          <a:p>
            <a:pPr marL="0" indent="0">
              <a:buNone/>
            </a:pPr>
            <a:r>
              <a:rPr lang="zh-CN" altLang="en-US" sz="1100" dirty="0"/>
              <a:t>需要找到一种方法，在保持接口层和原子操作层复用性的前提下，提高指令编排层的扩展性，降低系统维护成本。</a:t>
            </a:r>
            <a:endParaRPr lang="en-US" altLang="zh-CN" sz="1100" dirty="0"/>
          </a:p>
          <a:p>
            <a:pPr marL="0" indent="0">
              <a:buNone/>
            </a:pPr>
            <a:endParaRPr lang="en-US" altLang="zh-CN" sz="11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C00000"/>
                </a:solidFill>
              </a:rPr>
              <a:t>保持接口层和原子操作层的可复用性：</a:t>
            </a:r>
          </a:p>
          <a:p>
            <a:pPr marL="180000" indent="-180000"/>
            <a:r>
              <a:rPr lang="zh-CN" altLang="en-US" sz="1100" dirty="0">
                <a:solidFill>
                  <a:srgbClr val="C00000"/>
                </a:solidFill>
              </a:rPr>
              <a:t>接口层提供了一个稳定的交互方式</a:t>
            </a:r>
          </a:p>
          <a:p>
            <a:pPr marL="180000" indent="-180000"/>
            <a:r>
              <a:rPr lang="zh-CN" altLang="en-US" sz="1100" dirty="0">
                <a:solidFill>
                  <a:srgbClr val="C00000"/>
                </a:solidFill>
              </a:rPr>
              <a:t>原子操作层则封装了基本的操作逻辑</a:t>
            </a:r>
            <a:endParaRPr lang="en-US" altLang="zh-CN" sz="11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570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40000"/>
              </a:lnSpc>
              <a:buFontTx/>
              <a:buChar char="•"/>
              <a:defRPr sz="2200">
                <a:latin typeface="方正兰亭黑简体"/>
              </a:defRPr>
            </a:pP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抽象：掌握</a:t>
            </a:r>
            <a:r>
              <a:rPr lang="en-US" altLang="zh-CN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</a:t>
            </a: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的基本概念和用法，通过</a:t>
            </a:r>
            <a:r>
              <a:rPr lang="en-US" altLang="zh-CN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</a:t>
            </a: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对不同类型的共享行为进行统一约束，结合接口方法的默认实现，提升代码的复用性</a:t>
            </a:r>
            <a:endParaRPr lang="en-US" altLang="zh-CN" sz="11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多态：掌握</a:t>
            </a:r>
            <a:r>
              <a:rPr lang="en-US" altLang="zh-CN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 object</a:t>
            </a:r>
            <a:r>
              <a:rPr lang="zh-CN" altLang="en-US" sz="11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的概念和用法，运行时以抽象类型动态分发给具体类型</a:t>
            </a:r>
            <a:r>
              <a:rPr lang="zh-CN" altLang="en-US" sz="1100" i="0" dirty="0">
                <a:solidFill>
                  <a:srgbClr val="000000"/>
                </a:solidFill>
              </a:rPr>
              <a:t>，降低代码间耦合</a:t>
            </a:r>
            <a:endParaRPr lang="en-US" altLang="zh-CN" sz="1100" i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9391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trait</a:t>
            </a:r>
            <a:r>
              <a:rPr lang="zh-CN" altLang="en-US" dirty="0"/>
              <a:t>以抽象的方式定义多个具体类型的共享的行为，实现对具体类型行为的统一约束。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Rust</a:t>
            </a:r>
            <a:r>
              <a:rPr lang="zh-CN" altLang="en-US" dirty="0"/>
              <a:t>支持接口默认实现，默认实现可以调用其它接口，即使该接口只有定义。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Trait</a:t>
            </a:r>
            <a:r>
              <a:rPr lang="zh-CN" altLang="en-US" dirty="0"/>
              <a:t>的方法不支持指定可见性，与</a:t>
            </a:r>
            <a:r>
              <a:rPr lang="en-US" altLang="zh-CN" dirty="0"/>
              <a:t>trait</a:t>
            </a:r>
            <a:r>
              <a:rPr lang="zh-CN" altLang="en-US" dirty="0"/>
              <a:t>类型保持一致；</a:t>
            </a:r>
            <a:r>
              <a:rPr lang="en-US" altLang="zh-CN" dirty="0"/>
              <a:t>C++</a:t>
            </a:r>
            <a:r>
              <a:rPr lang="zh-CN" altLang="en-US" dirty="0"/>
              <a:t>支持更精细的可见性控制（如将</a:t>
            </a:r>
            <a:r>
              <a:rPr lang="en-US" altLang="zh-CN" dirty="0" err="1"/>
              <a:t>move_assemble</a:t>
            </a:r>
            <a:r>
              <a:rPr lang="zh-CN" altLang="en-US" dirty="0"/>
              <a:t>设为私有），这点</a:t>
            </a:r>
            <a:r>
              <a:rPr lang="en-US" altLang="zh-CN" dirty="0"/>
              <a:t>Rust</a:t>
            </a:r>
            <a:r>
              <a:rPr lang="zh-CN" altLang="en-US" dirty="0"/>
              <a:t>值得改进。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26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新类型车辆的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指令操作与之前实现并不一致</a:t>
            </a:r>
          </a:p>
          <a:p>
            <a:pPr marL="0" indent="0">
              <a:buNone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默认实现允许调用相同特征中的其他方法，哪怕这些方法没有默认实现。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Trait object</a:t>
            </a:r>
            <a:r>
              <a:rPr lang="zh-CN" altLang="en-US" dirty="0"/>
              <a:t>：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可以将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拥有相同行为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的类型集合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抽象为一个类型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Trait object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在编译期不知道具体的类型（大小未知），只能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通过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`&amp;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dyn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trait`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或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`Box&lt;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dyn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trait&gt;`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使用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i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关于虚表*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C++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指向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vtable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的指针在编译时放在类结构里，而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放在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中。这也是为什么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很容易对基本类型（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`primitive type`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）做动态分派，而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C++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不行。事实上，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也并不区分基本类型，对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来说，所有的类型的地位都是一致的。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### 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与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的两种委托逻辑，何时使用其中一种？这个问题有点类似用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`switch case`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还是以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**多态**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替换类型码。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本质是一组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**封闭类型集**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，定义了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**有限**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的变体列表，将来添加变体需要修改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的定义。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`trait object`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是个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**开放类型集**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，允许对不同的具体类型进行统一的处理，这些类型都实现了相同的特征；通过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**虚表**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进行动态分发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**存在调用的开销**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，另外有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**对象安全的要求**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一般来说，如果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**委派的需求是内部的，意味着变体在小范围可控**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，此时最好使用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enum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，可以得到更好的性能，受到的约束更少。如果委派的需求暴露给外部，希望为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crate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用户提供最大程度的灵活性，那么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`trait object`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是更好的选择，</a:t>
            </a:r>
            <a:r>
              <a:rPr lang="zh-CN" altLang="en-US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**为了获得灵活性付出动态调度的性能**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是值得的。</a:t>
            </a: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1690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对应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`4`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正常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跑车用例（共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个用例），与朝向无关</a:t>
            </a:r>
          </a:p>
        </p:txBody>
      </p:sp>
    </p:spTree>
    <p:extLst>
      <p:ext uri="{BB962C8B-B14F-4D97-AF65-F5344CB8AC3E}">
        <p14:creationId xmlns:p14="http://schemas.microsoft.com/office/powerpoint/2010/main" val="924069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9077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Rust</a:t>
            </a:r>
            <a:r>
              <a:rPr lang="zh-CN" altLang="en-US" dirty="0"/>
              <a:t>自带测试框架，测试分组方式有除了</a:t>
            </a:r>
            <a:r>
              <a:rPr lang="zh-CN" altLang="en-US" b="1" dirty="0"/>
              <a:t>同一文件中创建多个测试模块</a:t>
            </a:r>
            <a:r>
              <a:rPr lang="zh-CN" altLang="en-US" dirty="0"/>
              <a:t>外，还可以通过创建多个不同的测试文件进行分组，或者测试文件</a:t>
            </a:r>
            <a:r>
              <a:rPr lang="en-US" altLang="zh-CN" dirty="0"/>
              <a:t>+</a:t>
            </a:r>
            <a:r>
              <a:rPr lang="zh-CN" altLang="en-US" dirty="0"/>
              <a:t>测试模块组合方式。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</a:t>
            </a:r>
            <a:r>
              <a:rPr lang="zh-CN" altLang="en-US" dirty="0"/>
              <a:t>测试文件本质就是测试模块，与</a:t>
            </a:r>
            <a:r>
              <a:rPr lang="en-US" altLang="zh-CN" dirty="0" err="1"/>
              <a:t>src</a:t>
            </a:r>
            <a:r>
              <a:rPr lang="zh-CN" altLang="en-US" dirty="0"/>
              <a:t>同级的</a:t>
            </a:r>
            <a:r>
              <a:rPr lang="en-US" altLang="zh-CN" dirty="0"/>
              <a:t>tests</a:t>
            </a:r>
            <a:r>
              <a:rPr lang="zh-CN" altLang="en-US" dirty="0"/>
              <a:t>目录每一个都会被作为独立的</a:t>
            </a:r>
            <a:r>
              <a:rPr lang="en-US" altLang="zh-CN" dirty="0"/>
              <a:t>crate</a:t>
            </a:r>
            <a:r>
              <a:rPr lang="zh-CN" altLang="en-US" dirty="0"/>
              <a:t>编译运行，每一个文件也会在测试结果单独展示。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000000"/>
                </a:solidFill>
                <a:latin typeface="方正兰亭黑简体"/>
              </a:rPr>
              <a:t>Rust</a:t>
            </a:r>
            <a:r>
              <a:rPr lang="zh-CN" altLang="en-US" sz="1100" dirty="0">
                <a:solidFill>
                  <a:srgbClr val="000000"/>
                </a:solidFill>
                <a:latin typeface="方正兰亭黑简体"/>
              </a:rPr>
              <a:t>中文件夹和文件都是合法的模块，我们通过文件名（测试模块）对测试的功能进行分组。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1532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2855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实现功能，</a:t>
            </a:r>
            <a:r>
              <a:rPr lang="zh-CN" altLang="en-US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编写</a:t>
            </a:r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刚好让测试通过</a:t>
            </a:r>
            <a:r>
              <a:rPr lang="zh-CN" altLang="en-US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的代码，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用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最简单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的方式满足当前需求，不考虑其他需求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通过新建具体跑车指令编排类型，在不改变普通车辆处理下扩展新的车辆类型。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使用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todo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!()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表示没有实现，可以编译通过，如果有调用则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panic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105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跑车接口现在是一个工厂，此时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的数据成员需要设置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pub(crate)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43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3948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5201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9843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dirty="0"/>
              <a:t>在软件开发中，目录结构设计是一个非常重要的环节，它不仅影响代码的可维护性和可扩展性，还影响团队协作的效率。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54304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打</a:t>
            </a:r>
            <a:r>
              <a:rPr lang="zh-CN" altLang="en-US" sz="1100" b="1" kern="1200" baseline="0" dirty="0">
                <a:solidFill>
                  <a:srgbClr val="00B050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√的是已经实施了的</a:t>
            </a:r>
            <a:endParaRPr lang="en-US" altLang="zh-CN" sz="1100" b="1" kern="1200" baseline="0" dirty="0">
              <a:solidFill>
                <a:srgbClr val="00B050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1" kern="1200" baseline="0" dirty="0">
              <a:solidFill>
                <a:srgbClr val="00B050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66970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mod</a:t>
            </a:r>
            <a:r>
              <a:rPr lang="zh-CN" altLang="en-US" dirty="0"/>
              <a:t>加载子模块只是一种方式，还可以在</a:t>
            </a:r>
            <a:r>
              <a:rPr lang="en-US" altLang="zh-CN" dirty="0"/>
              <a:t>lib.rs</a:t>
            </a:r>
            <a:r>
              <a:rPr lang="zh-CN" altLang="en-US" dirty="0"/>
              <a:t>通过嵌套方式进行加载，如：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action {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    pub(crate) 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action;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    pub(super) 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pose;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}</a:t>
            </a:r>
          </a:p>
          <a:p>
            <a:pPr marL="0" indent="0">
              <a:buNone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对加载测试子模块，需要使用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main.rs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，内容如下：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executor_test;</a:t>
            </a: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executor_reverse_test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;</a:t>
            </a: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executor_fast_test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;</a:t>
            </a:r>
          </a:p>
          <a:p>
            <a:pPr marL="0" indent="0">
              <a:buNone/>
            </a:pP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mod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 </a:t>
            </a:r>
            <a:r>
              <a:rPr lang="en-US" altLang="zh-CN" sz="1100" b="0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executor_fast_reverse_test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;</a:t>
            </a:r>
          </a:p>
          <a:p>
            <a:pPr marL="0" indent="0">
              <a:buNone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补充惯用法</a:t>
            </a: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7654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27668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这种改进有助于降低代码的复杂度，提高代码可读性。</a:t>
            </a:r>
          </a:p>
        </p:txBody>
      </p:sp>
    </p:spTree>
    <p:extLst>
      <p:ext uri="{BB962C8B-B14F-4D97-AF65-F5344CB8AC3E}">
        <p14:creationId xmlns:p14="http://schemas.microsoft.com/office/powerpoint/2010/main" val="8051673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322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需求对齐：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存在一个共有的特殊操作：正常状态下前进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格，倒车状态下后退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格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 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巴士体型较大，相比普通车辆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完成基本操作前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需要留一点空间执行普通操作：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`M`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M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的操作，跟普通车辆没什么区别</a:t>
            </a:r>
          </a:p>
          <a:p>
            <a:pPr marL="0" indent="0">
              <a:buNone/>
            </a:pP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- `L/R`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指令的操作是完成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普通车辆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次的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L/R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指令操作前先执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次特殊操作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5892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正交用例降维方法，寻找相关联维度：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`M/L/R`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对应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`4`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种不同的状态：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正常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、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`B`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`FB`</a:t>
            </a:r>
            <a:endParaRPr lang="zh-CN" altLang="en-US" sz="11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巴士用例（共</a:t>
            </a:r>
            <a:r>
              <a:rPr lang="en-US" altLang="zh-CN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12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个用例），与朝向无关</a:t>
            </a:r>
          </a:p>
        </p:txBody>
      </p:sp>
    </p:spTree>
    <p:extLst>
      <p:ext uri="{BB962C8B-B14F-4D97-AF65-F5344CB8AC3E}">
        <p14:creationId xmlns:p14="http://schemas.microsoft.com/office/powerpoint/2010/main" val="47123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i="0">
                <a:solidFill>
                  <a:srgbClr val="000000"/>
                </a:solidFill>
              </a:rPr>
              <a:t>需求</a:t>
            </a:r>
            <a:r>
              <a:rPr lang="en-US" altLang="zh-CN" i="0">
                <a:solidFill>
                  <a:srgbClr val="000000"/>
                </a:solidFill>
              </a:rPr>
              <a:t>3</a:t>
            </a:r>
            <a:r>
              <a:rPr lang="zh-CN" altLang="en-US" i="0">
                <a:solidFill>
                  <a:srgbClr val="000000"/>
                </a:solidFill>
              </a:rPr>
              <a:t>：</a:t>
            </a:r>
            <a:endParaRPr lang="en-US" altLang="zh-CN" i="0">
              <a:solidFill>
                <a:srgbClr val="000000"/>
              </a:solidFill>
            </a:endParaRPr>
          </a:p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指令不受倒车状态</a:t>
            </a:r>
            <a:r>
              <a:rPr lang="en-US" altLang="zh-CN" i="0">
                <a:solidFill>
                  <a:srgbClr val="000000"/>
                </a:solidFill>
              </a:rPr>
              <a:t>B</a:t>
            </a:r>
            <a:r>
              <a:rPr lang="zh-CN" altLang="en-US" i="0">
                <a:solidFill>
                  <a:srgbClr val="000000"/>
                </a:solidFill>
              </a:rPr>
              <a:t>影响，倒车状态下忽略</a:t>
            </a: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</a:t>
            </a:r>
          </a:p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指令会受到加速状态</a:t>
            </a:r>
            <a:r>
              <a:rPr lang="en-US" altLang="zh-CN" i="0">
                <a:solidFill>
                  <a:srgbClr val="000000"/>
                </a:solidFill>
              </a:rPr>
              <a:t>F</a:t>
            </a:r>
            <a:r>
              <a:rPr lang="zh-CN" altLang="en-US" i="0">
                <a:solidFill>
                  <a:srgbClr val="000000"/>
                </a:solidFill>
              </a:rPr>
              <a:t>影响，在加速状态下，收到</a:t>
            </a:r>
            <a:r>
              <a:rPr lang="en-US" altLang="zh-CN" i="0">
                <a:solidFill>
                  <a:srgbClr val="000000"/>
                </a:solidFill>
              </a:rPr>
              <a:t>Z</a:t>
            </a:r>
            <a:r>
              <a:rPr lang="zh-CN" altLang="en-US" i="0">
                <a:solidFill>
                  <a:srgbClr val="000000"/>
                </a:solidFill>
              </a:rPr>
              <a:t>指令后，向前进</a:t>
            </a:r>
            <a:r>
              <a:rPr lang="en-US" altLang="zh-CN" i="0">
                <a:solidFill>
                  <a:srgbClr val="000000"/>
                </a:solidFill>
              </a:rPr>
              <a:t>1</a:t>
            </a:r>
            <a:r>
              <a:rPr lang="zh-CN" altLang="en-US" i="0">
                <a:solidFill>
                  <a:srgbClr val="000000"/>
                </a:solidFill>
              </a:rPr>
              <a:t>格</a:t>
            </a:r>
            <a:r>
              <a:rPr lang="en-US" altLang="zh-CN" i="0">
                <a:solidFill>
                  <a:srgbClr val="000000"/>
                </a:solidFill>
              </a:rPr>
              <a:t>-&gt;</a:t>
            </a:r>
            <a:r>
              <a:rPr lang="zh-CN" altLang="en-US" i="0">
                <a:solidFill>
                  <a:srgbClr val="000000"/>
                </a:solidFill>
              </a:rPr>
              <a:t>左转</a:t>
            </a:r>
            <a:r>
              <a:rPr lang="en-US" altLang="zh-CN" i="0">
                <a:solidFill>
                  <a:srgbClr val="000000"/>
                </a:solidFill>
              </a:rPr>
              <a:t>90</a:t>
            </a:r>
            <a:r>
              <a:rPr lang="zh-CN" altLang="en-US" i="0">
                <a:solidFill>
                  <a:srgbClr val="000000"/>
                </a:solidFill>
              </a:rPr>
              <a:t>度</a:t>
            </a:r>
            <a:r>
              <a:rPr lang="en-US" altLang="zh-CN" i="0">
                <a:solidFill>
                  <a:srgbClr val="000000"/>
                </a:solidFill>
              </a:rPr>
              <a:t>-&gt;</a:t>
            </a:r>
            <a:r>
              <a:rPr lang="zh-CN" altLang="en-US" i="0">
                <a:solidFill>
                  <a:srgbClr val="000000"/>
                </a:solidFill>
              </a:rPr>
              <a:t>向前进</a:t>
            </a:r>
            <a:r>
              <a:rPr lang="en-US" altLang="zh-CN" i="0">
                <a:solidFill>
                  <a:srgbClr val="000000"/>
                </a:solidFill>
              </a:rPr>
              <a:t>1</a:t>
            </a:r>
            <a:r>
              <a:rPr lang="zh-CN" altLang="en-US" i="0">
                <a:solidFill>
                  <a:srgbClr val="000000"/>
                </a:solidFill>
              </a:rPr>
              <a:t>格</a:t>
            </a:r>
            <a:r>
              <a:rPr lang="en-US" altLang="zh-CN" i="0">
                <a:solidFill>
                  <a:srgbClr val="000000"/>
                </a:solidFill>
              </a:rPr>
              <a:t>-&gt;</a:t>
            </a:r>
            <a:r>
              <a:rPr lang="zh-CN" altLang="en-US" i="0">
                <a:solidFill>
                  <a:srgbClr val="000000"/>
                </a:solidFill>
              </a:rPr>
              <a:t>左转</a:t>
            </a:r>
            <a:r>
              <a:rPr lang="en-US" altLang="zh-CN" i="0">
                <a:solidFill>
                  <a:srgbClr val="000000"/>
                </a:solidFill>
              </a:rPr>
              <a:t>90</a:t>
            </a:r>
            <a:r>
              <a:rPr lang="zh-CN" altLang="en-US" i="0">
                <a:solidFill>
                  <a:srgbClr val="000000"/>
                </a:solidFill>
              </a:rPr>
              <a:t>度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9084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44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3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70182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94991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052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7451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4022031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189185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3984736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99930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334101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542385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755580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818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72307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88667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272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126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68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365952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4297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19684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880630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374316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922160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840371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476850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0392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4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80160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0400109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900329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715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48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88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35" r:id="rId11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42">
          <p15:clr>
            <a:srgbClr val="F26B43"/>
          </p15:clr>
        </p15:guide>
        <p15:guide id="4" pos="7038">
          <p15:clr>
            <a:srgbClr val="F26B43"/>
          </p15:clr>
        </p15:guide>
        <p15:guide id="5" orient="horz" pos="2341">
          <p15:clr>
            <a:srgbClr val="F26B43"/>
          </p15:clr>
        </p15:guide>
        <p15:guide id="6" orient="horz" pos="3906">
          <p15:clr>
            <a:srgbClr val="F26B43"/>
          </p15:clr>
        </p15:guide>
        <p15:guide id="7" orient="horz" pos="1162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731">
          <p15:clr>
            <a:srgbClr val="F26B43"/>
          </p15:clr>
        </p15:guide>
        <p15:guide id="10" orient="horz" pos="8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93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32" r:id="rId6"/>
    <p:sldLayoutId id="2147483933" r:id="rId7"/>
    <p:sldLayoutId id="2147483934" r:id="rId8"/>
    <p:sldLayoutId id="2147483936" r:id="rId9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Copyright©2020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2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306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reference/introduction.html" TargetMode="External"/><Relationship Id="rId2" Type="http://schemas.openxmlformats.org/officeDocument/2006/relationships/hyperlink" Target="https://doc.rust-lang.org/stable/book/" TargetMode="Externa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doc.rust-lang.org/stable/std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FC7815F9-ACCD-4586-A5AA-ABD3A7DA3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Rust</a:t>
            </a:r>
            <a:r>
              <a:rPr lang="zh-CN" altLang="en-US" dirty="0"/>
              <a:t>语言企业软件开发实践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CB2BE2EE-4B3F-467F-9FBE-C38969D70B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/>
              <a:t>实验</a:t>
            </a:r>
            <a:r>
              <a:rPr lang="en-US" altLang="zh-CN" sz="1800" dirty="0"/>
              <a:t>3 </a:t>
            </a:r>
            <a:r>
              <a:rPr lang="zh-CN" altLang="en-US" sz="1800" dirty="0"/>
              <a:t>类型抽象和代码组织</a:t>
            </a:r>
          </a:p>
        </p:txBody>
      </p:sp>
    </p:spTree>
    <p:extLst>
      <p:ext uri="{BB962C8B-B14F-4D97-AF65-F5344CB8AC3E}">
        <p14:creationId xmlns:p14="http://schemas.microsoft.com/office/powerpoint/2010/main" val="215151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33341" y="1726900"/>
            <a:ext cx="10869099" cy="416986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深入理解</a:t>
            </a:r>
            <a:r>
              <a:rPr lang="en-US" altLang="zh-CN" sz="2400" dirty="0">
                <a:latin typeface="方正兰亭黑简体" panose="02000000000000000000" pitchFamily="2" charset="-122"/>
                <a:cs typeface="+mn-ea"/>
              </a:rPr>
              <a:t>trait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和</a:t>
            </a:r>
            <a:r>
              <a:rPr lang="en-US" altLang="zh-CN" sz="2400" dirty="0">
                <a:latin typeface="方正兰亭黑简体" panose="02000000000000000000" pitchFamily="2" charset="-122"/>
                <a:cs typeface="+mn-ea"/>
              </a:rPr>
              <a:t>trait object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的概念和用法</a:t>
            </a:r>
            <a:endParaRPr sz="2400" dirty="0">
              <a:latin typeface="方正兰亭黑简体" panose="02000000000000000000" pitchFamily="2" charset="-122"/>
              <a:cs typeface="+mn-ea"/>
            </a:endParaRPr>
          </a:p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4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实践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并提升代码的可扩展性和可复用性，提高程序设计的灵活性</a:t>
            </a:r>
            <a:endParaRPr i="0" dirty="0">
              <a:solidFill>
                <a:srgbClr val="000000"/>
              </a:solidFill>
            </a:endParaRPr>
          </a:p>
          <a:p>
            <a:pPr marL="342900" indent="-342900">
              <a:lnSpc>
                <a:spcPct val="14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</a:rPr>
              <a:t>通过代码组织优化，提升代码的可读性和可维护性</a:t>
            </a:r>
            <a:endParaRPr sz="2400" dirty="0">
              <a:latin typeface="方正兰亭黑简体" panose="02000000000000000000" pitchFamily="2" charset="-122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4837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black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black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black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137802"/>
            <a:ext cx="11160000" cy="619332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，倒车功能测试用例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140587-A7B1-47EC-B433-98E247CBFD6B}"/>
              </a:ext>
            </a:extLst>
          </p:cNvPr>
          <p:cNvSpPr/>
          <p:nvPr/>
        </p:nvSpPr>
        <p:spPr>
          <a:xfrm>
            <a:off x="648652" y="857450"/>
            <a:ext cx="52998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tests/executor_ reverse_test.rs</a:t>
            </a:r>
            <a:r>
              <a:rPr lang="zh-CN" altLang="en-US" sz="1600" dirty="0">
                <a:solidFill>
                  <a:srgbClr val="000000"/>
                </a:solidFill>
              </a:rPr>
              <a:t>的部分测试用例</a:t>
            </a:r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3660C9-4B31-48C2-8CB7-61EAC8BE8CF1}"/>
              </a:ext>
            </a:extLst>
          </p:cNvPr>
          <p:cNvSpPr/>
          <p:nvPr/>
        </p:nvSpPr>
        <p:spPr>
          <a:xfrm>
            <a:off x="731837" y="1296320"/>
            <a:ext cx="6253163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should_return_x_minus_1_given_command_is_bm_and_heading_is_e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"BM"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should_return_s_given_command_is_bl_and_heading_is_e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"BL"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'S'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6F2E38-1AEB-411D-B779-F0BC87129308}"/>
              </a:ext>
            </a:extLst>
          </p:cNvPr>
          <p:cNvSpPr/>
          <p:nvPr/>
        </p:nvSpPr>
        <p:spPr>
          <a:xfrm>
            <a:off x="7656173" y="2631625"/>
            <a:ext cx="3172693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指令的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种状态（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BB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），只对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`M/L/R`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指令发生执行变化，与车当前朝向无关。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204477"/>
            <a:ext cx="11277282" cy="485982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，加速功能测试用例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45BA47-A535-4BF3-B0BD-84431C23DA6E}"/>
              </a:ext>
            </a:extLst>
          </p:cNvPr>
          <p:cNvSpPr/>
          <p:nvPr/>
        </p:nvSpPr>
        <p:spPr>
          <a:xfrm>
            <a:off x="648652" y="857450"/>
            <a:ext cx="49792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tests/executor_ fast_test.rs</a:t>
            </a:r>
            <a:r>
              <a:rPr lang="zh-CN" altLang="en-US" sz="1600" dirty="0">
                <a:solidFill>
                  <a:srgbClr val="000000"/>
                </a:solidFill>
              </a:rPr>
              <a:t>的部分测试用例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1FB54C-2DDB-4922-A293-56ED672A3B1C}"/>
              </a:ext>
            </a:extLst>
          </p:cNvPr>
          <p:cNvSpPr/>
          <p:nvPr/>
        </p:nvSpPr>
        <p:spPr>
          <a:xfrm>
            <a:off x="731838" y="1196004"/>
            <a:ext cx="6566430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should_return_n_and_x_plus_1_given_command_is_fl_and_facing_is_e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"FL"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'N'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should_return_s_and_x_plus_1_given_command_is_fr_and_facing_is_e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"FR"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'S'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E771D5-51D6-4E70-828A-366737621CE7}"/>
              </a:ext>
            </a:extLst>
          </p:cNvPr>
          <p:cNvSpPr/>
          <p:nvPr/>
        </p:nvSpPr>
        <p:spPr>
          <a:xfrm>
            <a:off x="7656173" y="2631625"/>
            <a:ext cx="3172693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指令的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2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种状态（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），只对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`M/L/R`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指令发生执行变化，与车当前朝向无关。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194316"/>
            <a:ext cx="10728325" cy="608401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，加速和倒车组合测试用例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53D7BE-A662-4842-9C8F-732E1430871C}"/>
              </a:ext>
            </a:extLst>
          </p:cNvPr>
          <p:cNvSpPr/>
          <p:nvPr/>
        </p:nvSpPr>
        <p:spPr>
          <a:xfrm>
            <a:off x="648652" y="894749"/>
            <a:ext cx="57422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tests/executor_fast_reverse_test.rs</a:t>
            </a:r>
            <a:r>
              <a:rPr lang="zh-CN" altLang="en-US" sz="1600" dirty="0">
                <a:solidFill>
                  <a:srgbClr val="000000"/>
                </a:solidFill>
              </a:rPr>
              <a:t>的部分测试用例</a:t>
            </a:r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EED20-3D7E-4B54-B4FC-BAC577DA0F3A}"/>
              </a:ext>
            </a:extLst>
          </p:cNvPr>
          <p:cNvSpPr/>
          <p:nvPr/>
        </p:nvSpPr>
        <p:spPr>
          <a:xfrm>
            <a:off x="731837" y="1222593"/>
            <a:ext cx="6574896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should_return_x_minus_2_given_command_is_fbm_and_facing_is_e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"FBM"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-2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test</a:t>
            </a:r>
            <a:r>
              <a:rPr lang="en-US" altLang="zh-CN" sz="14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should_return_s_and_x_minus_1_given_command_is_fbl_and_facing_is_e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given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'E'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when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AA198"/>
                </a:solidFill>
              </a:rPr>
              <a:t>"FBL"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then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AA198"/>
                </a:solidFill>
              </a:rPr>
              <a:t>'S'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assert_eq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executor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04CF8E-8859-4382-A031-9991BA260D83}"/>
              </a:ext>
            </a:extLst>
          </p:cNvPr>
          <p:cNvSpPr/>
          <p:nvPr/>
        </p:nvSpPr>
        <p:spPr>
          <a:xfrm>
            <a:off x="7656173" y="2403025"/>
            <a:ext cx="3172693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F&amp;B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指令只有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1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种状态（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FB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），只对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`M/L/R`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指令发生执行变化，与车当前朝向无关。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641436"/>
          </a:xfrm>
        </p:spPr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i="0" dirty="0">
                <a:solidFill>
                  <a:srgbClr val="000000"/>
                </a:solidFill>
              </a:rPr>
              <a:t>回顾实验2，</a:t>
            </a:r>
            <a:r>
              <a:rPr lang="zh-CN" altLang="en-US" dirty="0">
                <a:solidFill>
                  <a:srgbClr val="000000"/>
                </a:solidFill>
              </a:rPr>
              <a:t>接口实现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2892B8-CA61-4C9F-8A5E-86AD7EE61075}"/>
              </a:ext>
            </a:extLst>
          </p:cNvPr>
          <p:cNvSpPr/>
          <p:nvPr/>
        </p:nvSpPr>
        <p:spPr>
          <a:xfrm>
            <a:off x="7554574" y="2818897"/>
            <a:ext cx="2904830" cy="1220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接口层提供</a:t>
            </a:r>
            <a:r>
              <a:rPr lang="en-US" altLang="zh-CN" dirty="0"/>
              <a:t>crate</a:t>
            </a:r>
            <a:r>
              <a:rPr lang="zh-CN" altLang="en-US" dirty="0"/>
              <a:t>对外的稳定接口，不包含具体的指令执行逻辑。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997339-F91E-46D3-BECA-8237C854C35C}"/>
              </a:ext>
            </a:extLst>
          </p:cNvPr>
          <p:cNvSpPr/>
          <p:nvPr/>
        </p:nvSpPr>
        <p:spPr>
          <a:xfrm>
            <a:off x="648652" y="1107660"/>
            <a:ext cx="37930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src/executor.rs</a:t>
            </a:r>
            <a:r>
              <a:rPr lang="zh-CN" altLang="en-US" sz="1600" dirty="0">
                <a:solidFill>
                  <a:srgbClr val="000000"/>
                </a:solidFill>
              </a:rPr>
              <a:t>的接口实现代码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38F1F4-5E15-4DA1-9093-97DC975368F2}"/>
              </a:ext>
            </a:extLst>
          </p:cNvPr>
          <p:cNvSpPr/>
          <p:nvPr/>
        </p:nvSpPr>
        <p:spPr>
          <a:xfrm>
            <a:off x="740305" y="1464970"/>
            <a:ext cx="6574895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for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chars</a:t>
            </a:r>
            <a:r>
              <a:rPr lang="en-US" altLang="zh-CN" sz="14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'B'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state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be_reverse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'F'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state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be_fast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_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state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</a:t>
            </a:r>
            <a:r>
              <a:rPr lang="en-US" altLang="zh-CN" sz="1400" dirty="0">
                <a:solidFill>
                  <a:srgbClr val="859900"/>
                </a:solidFill>
              </a:rPr>
              <a:t>for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perform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b="1" dirty="0">
                <a:solidFill>
                  <a:srgbClr val="859900"/>
                </a:solidFill>
              </a:rPr>
              <a:t>    ...</a:t>
            </a:r>
            <a:endParaRPr lang="en-US" altLang="zh-CN" sz="1400" b="1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7"/>
            <a:ext cx="10728325" cy="646331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，指令编排实现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4FA028-DE9B-48AA-A66F-752AAA19A638}"/>
              </a:ext>
            </a:extLst>
          </p:cNvPr>
          <p:cNvSpPr/>
          <p:nvPr/>
        </p:nvSpPr>
        <p:spPr>
          <a:xfrm>
            <a:off x="701940" y="1171405"/>
            <a:ext cx="34499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src/state.rs</a:t>
            </a:r>
            <a:r>
              <a:rPr lang="zh-CN" altLang="en-US" sz="1600" dirty="0">
                <a:solidFill>
                  <a:srgbClr val="000000"/>
                </a:solidFill>
              </a:rPr>
              <a:t>的指令执行代码</a:t>
            </a:r>
            <a:endParaRPr lang="zh-CN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CAC21-DA1E-4644-9D7F-FDA187ED018E}"/>
              </a:ext>
            </a:extLst>
          </p:cNvPr>
          <p:cNvSpPr/>
          <p:nvPr/>
        </p:nvSpPr>
        <p:spPr>
          <a:xfrm>
            <a:off x="6242172" y="5671341"/>
            <a:ext cx="5604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将复杂的指令处理转换为原子操作的编排，统一不同指令的执行流程。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3B2378-02B4-4CEE-958D-B4B313FC66E6}"/>
              </a:ext>
            </a:extLst>
          </p:cNvPr>
          <p:cNvSpPr/>
          <p:nvPr/>
        </p:nvSpPr>
        <p:spPr>
          <a:xfrm>
            <a:off x="366305" y="1493026"/>
            <a:ext cx="5729695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derive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Copy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Clone</a:t>
            </a:r>
            <a:r>
              <a:rPr lang="en-US" altLang="zh-CN" sz="1400" dirty="0">
                <a:solidFill>
                  <a:srgbClr val="657B83"/>
                </a:solidFill>
              </a:rPr>
              <a:t>)]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char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'M'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'L'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'R'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_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2086BC-E464-4F56-A8D7-535CA4E3D5B0}"/>
              </a:ext>
            </a:extLst>
          </p:cNvPr>
          <p:cNvSpPr/>
          <p:nvPr/>
        </p:nvSpPr>
        <p:spPr>
          <a:xfrm>
            <a:off x="6242172" y="1020057"/>
            <a:ext cx="5729695" cy="46166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 });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 });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b="1" dirty="0">
                <a:solidFill>
                  <a:srgbClr val="859900"/>
                </a:solidFill>
              </a:rPr>
              <a:t>    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F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状态指令的执行逻辑</a:t>
            </a:r>
            <a:r>
              <a:rPr lang="en-US" altLang="zh-CN" sz="1400" i="1" dirty="0" err="1">
                <a:solidFill>
                  <a:srgbClr val="93A1A1"/>
                </a:solidFill>
                <a:latin typeface="Consolas" panose="020B0609020204030204" pitchFamily="49" charset="0"/>
              </a:rPr>
              <a:t>be_reverse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400" i="1" dirty="0" err="1">
                <a:solidFill>
                  <a:srgbClr val="93A1A1"/>
                </a:solidFill>
                <a:latin typeface="Consolas" panose="020B0609020204030204" pitchFamily="49" charset="0"/>
              </a:rPr>
              <a:t>be_fast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7"/>
            <a:ext cx="10728325" cy="646331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回顾实验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，原子操作实现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4FA028-DE9B-48AA-A66F-752AAA19A638}"/>
              </a:ext>
            </a:extLst>
          </p:cNvPr>
          <p:cNvSpPr/>
          <p:nvPr/>
        </p:nvSpPr>
        <p:spPr>
          <a:xfrm>
            <a:off x="701940" y="1171405"/>
            <a:ext cx="39757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src/action.rs</a:t>
            </a:r>
            <a:r>
              <a:rPr lang="zh-CN" altLang="en-US" sz="1600" dirty="0">
                <a:solidFill>
                  <a:srgbClr val="000000"/>
                </a:solidFill>
              </a:rPr>
              <a:t>的原子操作分发代码</a:t>
            </a:r>
            <a:endParaRPr lang="zh-CN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CAC21-DA1E-4644-9D7F-FDA187ED018E}"/>
              </a:ext>
            </a:extLst>
          </p:cNvPr>
          <p:cNvSpPr/>
          <p:nvPr/>
        </p:nvSpPr>
        <p:spPr>
          <a:xfrm>
            <a:off x="701940" y="5363429"/>
            <a:ext cx="103470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Rust</a:t>
            </a:r>
            <a:r>
              <a:rPr lang="zh-CN" altLang="en-US" dirty="0"/>
              <a:t>枚举实现原子操作的统一存储和执行，将指令操作的生成和执行分离。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1EB2D0-18E4-4698-891A-0B29203A7427}"/>
              </a:ext>
            </a:extLst>
          </p:cNvPr>
          <p:cNvSpPr/>
          <p:nvPr/>
        </p:nvSpPr>
        <p:spPr>
          <a:xfrm>
            <a:off x="731838" y="1587566"/>
            <a:ext cx="5100637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derive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Copy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Clone</a:t>
            </a:r>
            <a:r>
              <a:rPr lang="en-US" altLang="zh-CN" sz="1400" dirty="0">
                <a:solidFill>
                  <a:srgbClr val="657B83"/>
                </a:solidFill>
              </a:rPr>
              <a:t>)]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 err="1">
                <a:solidFill>
                  <a:srgbClr val="859900"/>
                </a:solidFill>
              </a:rPr>
              <a:t>enum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perform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Move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offset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657B83"/>
                </a:solidFill>
              </a:rPr>
              <a:t>pose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*</a:t>
            </a:r>
            <a:r>
              <a:rPr lang="en-US" altLang="zh-CN" sz="1400" dirty="0">
                <a:solidFill>
                  <a:srgbClr val="268BD2"/>
                </a:solidFill>
              </a:rPr>
              <a:t>offset</a:t>
            </a:r>
            <a:r>
              <a:rPr lang="en-US" altLang="zh-CN" sz="1400" dirty="0">
                <a:solidFill>
                  <a:srgbClr val="657B83"/>
                </a:solidFill>
              </a:rPr>
              <a:t>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TurnLeft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657B83"/>
                </a:solidFill>
              </a:rPr>
              <a:t>pose.</a:t>
            </a:r>
            <a:r>
              <a:rPr lang="en-US" altLang="zh-CN" sz="1400" dirty="0" err="1">
                <a:solidFill>
                  <a:srgbClr val="268BD2"/>
                </a:solidFill>
              </a:rPr>
              <a:t>urn_left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 err="1">
                <a:solidFill>
                  <a:srgbClr val="268BD2"/>
                </a:solidFill>
              </a:rPr>
              <a:t>TurnRight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657B83"/>
                </a:solidFill>
              </a:rPr>
              <a:t>pose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ABCE8C-41A4-47FE-9704-66B006230699}"/>
              </a:ext>
            </a:extLst>
          </p:cNvPr>
          <p:cNvSpPr/>
          <p:nvPr/>
        </p:nvSpPr>
        <p:spPr>
          <a:xfrm>
            <a:off x="6096000" y="1171405"/>
            <a:ext cx="42418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展示文件</a:t>
            </a:r>
            <a:r>
              <a:rPr lang="en-US" altLang="zh-CN" sz="1600" dirty="0">
                <a:solidFill>
                  <a:srgbClr val="000000"/>
                </a:solidFill>
              </a:rPr>
              <a:t>src/pose.rs</a:t>
            </a:r>
            <a:r>
              <a:rPr lang="zh-CN" altLang="en-US" sz="1600" dirty="0">
                <a:solidFill>
                  <a:srgbClr val="000000"/>
                </a:solidFill>
              </a:rPr>
              <a:t>的原子操作具体实现代码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D643D6-D752-4200-B2B3-054DB60C786F}"/>
              </a:ext>
            </a:extLst>
          </p:cNvPr>
          <p:cNvSpPr/>
          <p:nvPr/>
        </p:nvSpPr>
        <p:spPr>
          <a:xfrm>
            <a:off x="6155265" y="1587566"/>
            <a:ext cx="5040000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endParaRPr lang="en-US" altLang="zh-CN" sz="1400" b="1" dirty="0">
              <a:solidFill>
                <a:srgbClr val="657B83"/>
              </a:solidFill>
            </a:endParaRP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offset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省略实现代码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省略实现代码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省略实现代码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65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7910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563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i="0" dirty="0">
                <a:solidFill>
                  <a:srgbClr val="000000"/>
                </a:solidFill>
              </a:rPr>
              <a:t>课程实训</a:t>
            </a:r>
            <a:r>
              <a:rPr i="0" dirty="0">
                <a:solidFill>
                  <a:srgbClr val="000000"/>
                </a:solidFill>
              </a:rPr>
              <a:t>需求3</a:t>
            </a:r>
            <a:r>
              <a:rPr lang="en-US" altLang="zh-CN" i="0" dirty="0">
                <a:solidFill>
                  <a:srgbClr val="000000"/>
                </a:solidFill>
              </a:rPr>
              <a:t>-1</a:t>
            </a:r>
            <a:r>
              <a:rPr i="0" dirty="0">
                <a:solidFill>
                  <a:srgbClr val="000000"/>
                </a:solidFill>
              </a:rPr>
              <a:t>：支持</a:t>
            </a:r>
            <a:r>
              <a:rPr lang="zh-CN" altLang="en-US" i="0" dirty="0">
                <a:solidFill>
                  <a:srgbClr val="000000"/>
                </a:solidFill>
              </a:rPr>
              <a:t>新的车辆类型</a:t>
            </a:r>
            <a:r>
              <a:rPr lang="en-US" altLang="zh-CN" i="0" dirty="0">
                <a:solidFill>
                  <a:srgbClr val="000000"/>
                </a:solidFill>
              </a:rPr>
              <a:t>-</a:t>
            </a:r>
            <a:r>
              <a:rPr lang="zh-CN" altLang="en-US" i="0" dirty="0">
                <a:solidFill>
                  <a:srgbClr val="000000"/>
                </a:solidFill>
              </a:rPr>
              <a:t>跑车</a:t>
            </a:r>
            <a:endParaRPr i="0" dirty="0">
              <a:solidFill>
                <a:srgbClr val="000000"/>
              </a:solidFill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ABDD025-8E75-4D85-BBF1-5547CBE17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481348"/>
              </p:ext>
            </p:extLst>
          </p:nvPr>
        </p:nvGraphicFramePr>
        <p:xfrm>
          <a:off x="636880" y="3458834"/>
          <a:ext cx="9296829" cy="29302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839">
                  <a:extLst>
                    <a:ext uri="{9D8B030D-6E8A-4147-A177-3AD203B41FA5}">
                      <a16:colId xmlns:a16="http://schemas.microsoft.com/office/drawing/2014/main" val="1391097756"/>
                    </a:ext>
                  </a:extLst>
                </a:gridCol>
                <a:gridCol w="1904493">
                  <a:extLst>
                    <a:ext uri="{9D8B030D-6E8A-4147-A177-3AD203B41FA5}">
                      <a16:colId xmlns:a16="http://schemas.microsoft.com/office/drawing/2014/main" val="396796733"/>
                    </a:ext>
                  </a:extLst>
                </a:gridCol>
                <a:gridCol w="3166946">
                  <a:extLst>
                    <a:ext uri="{9D8B030D-6E8A-4147-A177-3AD203B41FA5}">
                      <a16:colId xmlns:a16="http://schemas.microsoft.com/office/drawing/2014/main" val="4043422220"/>
                    </a:ext>
                  </a:extLst>
                </a:gridCol>
                <a:gridCol w="3211551">
                  <a:extLst>
                    <a:ext uri="{9D8B030D-6E8A-4147-A177-3AD203B41FA5}">
                      <a16:colId xmlns:a16="http://schemas.microsoft.com/office/drawing/2014/main" val="831680552"/>
                    </a:ext>
                  </a:extLst>
                </a:gridCol>
              </a:tblGrid>
              <a:tr h="7550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00446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normal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231858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1013"/>
                  </a:ext>
                </a:extLst>
              </a:tr>
              <a:tr h="5888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009"/>
                  </a:ext>
                </a:extLst>
              </a:tr>
              <a:tr h="5056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70706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4A41D0-1D63-4977-A842-7053253AE420}"/>
              </a:ext>
            </a:extLst>
          </p:cNvPr>
          <p:cNvCxnSpPr>
            <a:cxnSpLocks/>
          </p:cNvCxnSpPr>
          <p:nvPr/>
        </p:nvCxnSpPr>
        <p:spPr>
          <a:xfrm>
            <a:off x="636880" y="3458834"/>
            <a:ext cx="1005653" cy="761851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BD00CF5-F889-4599-958A-95B6C90183A4}"/>
              </a:ext>
            </a:extLst>
          </p:cNvPr>
          <p:cNvSpPr txBox="1"/>
          <p:nvPr/>
        </p:nvSpPr>
        <p:spPr>
          <a:xfrm>
            <a:off x="1015882" y="3473565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08B165-7757-4403-8325-15CF4F01C49C}"/>
              </a:ext>
            </a:extLst>
          </p:cNvPr>
          <p:cNvSpPr txBox="1"/>
          <p:nvPr/>
        </p:nvSpPr>
        <p:spPr>
          <a:xfrm>
            <a:off x="636880" y="3882131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74838E-56EB-4208-8ED1-4EA1415B980F}"/>
              </a:ext>
            </a:extLst>
          </p:cNvPr>
          <p:cNvSpPr txBox="1"/>
          <p:nvPr/>
        </p:nvSpPr>
        <p:spPr>
          <a:xfrm>
            <a:off x="535086" y="3003444"/>
            <a:ext cx="65736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跑车在</a:t>
            </a:r>
            <a:r>
              <a:rPr lang="en-US" altLang="zh-CN" sz="2000" dirty="0">
                <a:latin typeface="+mn-ea"/>
              </a:rPr>
              <a:t>normal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F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F&amp;B</a:t>
            </a:r>
            <a:r>
              <a:rPr lang="zh-CN" altLang="en-US" sz="2000" dirty="0">
                <a:latin typeface="+mn-ea"/>
              </a:rPr>
              <a:t>这</a:t>
            </a: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种状态下执行的操作：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4D9C18-40C4-4685-8BF1-2235EB8B0187}"/>
              </a:ext>
            </a:extLst>
          </p:cNvPr>
          <p:cNvSpPr txBox="1"/>
          <p:nvPr/>
        </p:nvSpPr>
        <p:spPr>
          <a:xfrm>
            <a:off x="731833" y="1143081"/>
            <a:ext cx="9201876" cy="177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跑车速度较快，可以执行：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个基本操作指令：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M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（移动）、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（左转）和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（右转）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个状态指令：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（设置加速状态）和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（设置倒车状态）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支持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两个状态可以叠加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042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支持新的车辆类型</a:t>
            </a:r>
            <a:r>
              <a:rPr lang="en-US" altLang="zh-CN" dirty="0"/>
              <a:t>-</a:t>
            </a:r>
            <a:r>
              <a:rPr lang="zh-CN" altLang="en-US" dirty="0"/>
              <a:t>跑车对外接口如何设计？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2D0228-CCBE-4BA0-A7A8-A75738C9780A}"/>
              </a:ext>
            </a:extLst>
          </p:cNvPr>
          <p:cNvSpPr txBox="1"/>
          <p:nvPr/>
        </p:nvSpPr>
        <p:spPr>
          <a:xfrm>
            <a:off x="5854441" y="1278890"/>
            <a:ext cx="5475805" cy="88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让我们花几分钟来思考一下这个问题：</a:t>
            </a:r>
            <a:endParaRPr lang="en-US" altLang="zh-CN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如何确保对外接口兼容情况下支持新的车辆类型？</a:t>
            </a:r>
            <a:endParaRPr lang="en-US" altLang="zh-CN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058CA0-D2E5-4359-89DC-803FE95846C9}"/>
              </a:ext>
            </a:extLst>
          </p:cNvPr>
          <p:cNvSpPr/>
          <p:nvPr/>
        </p:nvSpPr>
        <p:spPr>
          <a:xfrm>
            <a:off x="694419" y="1354937"/>
            <a:ext cx="4749800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endParaRPr lang="en-US" altLang="zh-CN" sz="1400" dirty="0">
              <a:solidFill>
                <a:srgbClr val="859900"/>
              </a:solidFill>
            </a:endParaRP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(),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省略指令执行主入口的代码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b="1" dirty="0">
                <a:solidFill>
                  <a:srgbClr val="859900"/>
                </a:solidFill>
              </a:rPr>
              <a:t>   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6" name="圆角矩形 13">
            <a:extLst>
              <a:ext uri="{FF2B5EF4-FFF2-40B4-BE49-F238E27FC236}">
                <a16:creationId xmlns:a16="http://schemas.microsoft.com/office/drawing/2014/main" id="{A706EA2A-B7B2-4706-B217-202510B3270A}"/>
              </a:ext>
            </a:extLst>
          </p:cNvPr>
          <p:cNvSpPr/>
          <p:nvPr/>
        </p:nvSpPr>
        <p:spPr bwMode="auto">
          <a:xfrm>
            <a:off x="943015" y="2682593"/>
            <a:ext cx="4156236" cy="20624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219E4B-EEA8-4704-BACE-BBDEA8A1CD21}"/>
              </a:ext>
            </a:extLst>
          </p:cNvPr>
          <p:cNvSpPr txBox="1"/>
          <p:nvPr/>
        </p:nvSpPr>
        <p:spPr>
          <a:xfrm>
            <a:off x="2194427" y="2282132"/>
            <a:ext cx="3126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构造函数不带车辆类型参数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572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支持跑车：接口定义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E5B680-E957-41CF-9FE9-651E6DA78C8E}"/>
              </a:ext>
            </a:extLst>
          </p:cNvPr>
          <p:cNvSpPr/>
          <p:nvPr/>
        </p:nvSpPr>
        <p:spPr>
          <a:xfrm>
            <a:off x="731838" y="946157"/>
            <a:ext cx="40078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新建跑车接口</a:t>
            </a:r>
            <a:r>
              <a:rPr lang="en-US" altLang="zh-CN" sz="1600" dirty="0">
                <a:solidFill>
                  <a:srgbClr val="000000"/>
                </a:solidFill>
              </a:rPr>
              <a:t>src/sports_car_executor.rs</a:t>
            </a:r>
            <a:r>
              <a:rPr lang="zh-CN" altLang="en-US" sz="1600" dirty="0">
                <a:solidFill>
                  <a:srgbClr val="000000"/>
                </a:solidFill>
              </a:rPr>
              <a:t>：</a:t>
            </a:r>
            <a:endParaRPr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1BC0B9-9424-497D-AC91-6FCC37733BD9}"/>
              </a:ext>
            </a:extLst>
          </p:cNvPr>
          <p:cNvSpPr/>
          <p:nvPr/>
        </p:nvSpPr>
        <p:spPr>
          <a:xfrm>
            <a:off x="6005479" y="1284711"/>
            <a:ext cx="47740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</a:rPr>
              <a:t>修改</a:t>
            </a:r>
            <a:r>
              <a:rPr lang="en-US" altLang="zh-CN" sz="1600" dirty="0">
                <a:solidFill>
                  <a:srgbClr val="000000"/>
                </a:solidFill>
              </a:rPr>
              <a:t>src/lib.rs</a:t>
            </a:r>
            <a:r>
              <a:rPr lang="zh-CN" altLang="en-US" sz="1600" dirty="0">
                <a:solidFill>
                  <a:srgbClr val="000000"/>
                </a:solidFill>
              </a:rPr>
              <a:t>，使用</a:t>
            </a:r>
            <a:r>
              <a:rPr lang="en-US" altLang="zh-CN" sz="1600" dirty="0">
                <a:solidFill>
                  <a:srgbClr val="000000"/>
                </a:solidFill>
              </a:rPr>
              <a:t>pub use</a:t>
            </a:r>
            <a:r>
              <a:rPr lang="zh-CN" altLang="en-US" sz="1600" dirty="0">
                <a:solidFill>
                  <a:srgbClr val="000000"/>
                </a:solidFill>
              </a:rPr>
              <a:t>重导出跑车接口类型：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0D4AE8-6740-40AD-A6AC-4C936E17548E}"/>
              </a:ext>
            </a:extLst>
          </p:cNvPr>
          <p:cNvSpPr/>
          <p:nvPr/>
        </p:nvSpPr>
        <p:spPr>
          <a:xfrm>
            <a:off x="6096000" y="1648060"/>
            <a:ext cx="5398819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 err="1">
                <a:solidFill>
                  <a:srgbClr val="CB4B16"/>
                </a:solidFill>
              </a:rPr>
              <a:t>sports_car_executor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1B273A-0C70-43C3-A70D-9450E61896AE}"/>
              </a:ext>
            </a:extLst>
          </p:cNvPr>
          <p:cNvSpPr txBox="1"/>
          <p:nvPr/>
        </p:nvSpPr>
        <p:spPr>
          <a:xfrm>
            <a:off x="6005479" y="4014159"/>
            <a:ext cx="5496534" cy="406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cargo test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确保编译和用例通过，然后提交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788209-DD8D-4BEA-BF47-FBDB548D541A}"/>
              </a:ext>
            </a:extLst>
          </p:cNvPr>
          <p:cNvSpPr/>
          <p:nvPr/>
        </p:nvSpPr>
        <p:spPr>
          <a:xfrm>
            <a:off x="802887" y="1297418"/>
            <a:ext cx="4968952" cy="37548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FE0244-3E79-46CA-AE83-E2837123B677}"/>
              </a:ext>
            </a:extLst>
          </p:cNvPr>
          <p:cNvSpPr/>
          <p:nvPr/>
        </p:nvSpPr>
        <p:spPr>
          <a:xfrm>
            <a:off x="6103193" y="4516008"/>
            <a:ext cx="5398819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defRPr sz="1600">
                <a:latin typeface="Huawei Sans"/>
              </a:defRPr>
            </a:pPr>
            <a:r>
              <a:rPr lang="en-US" altLang="zh-CN" sz="1400" dirty="0">
                <a:solidFill>
                  <a:srgbClr val="3300AA"/>
                </a:solidFill>
              </a:rPr>
              <a:t>git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3300AA"/>
                </a:solidFill>
              </a:rPr>
              <a:t>add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lang="en-US" altLang="zh-CN" sz="1400" dirty="0">
                <a:solidFill>
                  <a:srgbClr val="3300AA"/>
                </a:solidFill>
              </a:rPr>
              <a:t>git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3300AA"/>
                </a:solidFill>
              </a:rPr>
              <a:t>commit</a:t>
            </a:r>
            <a:r>
              <a:rPr lang="en-US" altLang="zh-CN" sz="1400" dirty="0">
                <a:solidFill>
                  <a:srgbClr val="AA1111"/>
                </a:solidFill>
              </a:rPr>
              <a:t> </a:t>
            </a:r>
            <a:r>
              <a:rPr lang="en-US" altLang="zh-CN" sz="1400" dirty="0">
                <a:solidFill>
                  <a:srgbClr val="3300AA"/>
                </a:solidFill>
              </a:rPr>
              <a:t>-m</a:t>
            </a:r>
            <a:r>
              <a:rPr lang="en-US" altLang="zh-CN" sz="1400" dirty="0">
                <a:solidFill>
                  <a:srgbClr val="AA1111"/>
                </a:solidFill>
              </a:rPr>
              <a:t> ‘add interface for sports car’</a:t>
            </a:r>
            <a:endParaRPr lang="en-US" altLang="zh-CN" sz="14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1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 animBg="1"/>
      <p:bldP spid="13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支持跑车：指令执行分析</a:t>
            </a:r>
            <a:endParaRPr lang="zh-CN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367EB9E-3B1E-458A-A82B-8CE152B13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320306"/>
              </p:ext>
            </p:extLst>
          </p:nvPr>
        </p:nvGraphicFramePr>
        <p:xfrm>
          <a:off x="774161" y="1191531"/>
          <a:ext cx="10458835" cy="3977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3378">
                  <a:extLst>
                    <a:ext uri="{9D8B030D-6E8A-4147-A177-3AD203B41FA5}">
                      <a16:colId xmlns:a16="http://schemas.microsoft.com/office/drawing/2014/main" val="1391097756"/>
                    </a:ext>
                  </a:extLst>
                </a:gridCol>
                <a:gridCol w="887653">
                  <a:extLst>
                    <a:ext uri="{9D8B030D-6E8A-4147-A177-3AD203B41FA5}">
                      <a16:colId xmlns:a16="http://schemas.microsoft.com/office/drawing/2014/main" val="3991377504"/>
                    </a:ext>
                  </a:extLst>
                </a:gridCol>
                <a:gridCol w="1957335">
                  <a:extLst>
                    <a:ext uri="{9D8B030D-6E8A-4147-A177-3AD203B41FA5}">
                      <a16:colId xmlns:a16="http://schemas.microsoft.com/office/drawing/2014/main" val="396796733"/>
                    </a:ext>
                  </a:extLst>
                </a:gridCol>
                <a:gridCol w="1903141">
                  <a:extLst>
                    <a:ext uri="{9D8B030D-6E8A-4147-A177-3AD203B41FA5}">
                      <a16:colId xmlns:a16="http://schemas.microsoft.com/office/drawing/2014/main" val="4043422220"/>
                    </a:ext>
                  </a:extLst>
                </a:gridCol>
                <a:gridCol w="1940312">
                  <a:extLst>
                    <a:ext uri="{9D8B030D-6E8A-4147-A177-3AD203B41FA5}">
                      <a16:colId xmlns:a16="http://schemas.microsoft.com/office/drawing/2014/main" val="831680552"/>
                    </a:ext>
                  </a:extLst>
                </a:gridCol>
                <a:gridCol w="1412488">
                  <a:extLst>
                    <a:ext uri="{9D8B030D-6E8A-4147-A177-3AD203B41FA5}">
                      <a16:colId xmlns:a16="http://schemas.microsoft.com/office/drawing/2014/main" val="1044421210"/>
                    </a:ext>
                  </a:extLst>
                </a:gridCol>
                <a:gridCol w="1464528">
                  <a:extLst>
                    <a:ext uri="{9D8B030D-6E8A-4147-A177-3AD203B41FA5}">
                      <a16:colId xmlns:a16="http://schemas.microsoft.com/office/drawing/2014/main" val="577360608"/>
                    </a:ext>
                  </a:extLst>
                </a:gridCol>
              </a:tblGrid>
              <a:tr h="59950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车辆类型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+mn-ea"/>
                          <a:ea typeface="+mn-ea"/>
                        </a:rPr>
                        <a:t>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00446"/>
                  </a:ext>
                </a:extLst>
              </a:tr>
              <a:tr h="37437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normal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设置加速状态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设置倒车状态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62454"/>
                  </a:ext>
                </a:extLst>
              </a:tr>
              <a:tr h="364273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度，再前进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231858"/>
                  </a:ext>
                </a:extLst>
              </a:tr>
              <a:tr h="37170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5178"/>
                  </a:ext>
                </a:extLst>
              </a:tr>
              <a:tr h="408878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1013"/>
                  </a:ext>
                </a:extLst>
              </a:tr>
              <a:tr h="38657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31345"/>
                  </a:ext>
                </a:extLst>
              </a:tr>
              <a:tr h="460918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度，而后再前进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44009"/>
                  </a:ext>
                </a:extLst>
              </a:tr>
              <a:tr h="50569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普通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354666"/>
                  </a:ext>
                </a:extLst>
              </a:tr>
              <a:tr h="505691">
                <a:tc v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跑车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格（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次移动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格，再右转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格，再左转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度，而后再后退</a:t>
                      </a:r>
                      <a:r>
                        <a:rPr lang="en-US" altLang="zh-CN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  <a:latin typeface="+mn-ea"/>
                          <a:ea typeface="+mn-ea"/>
                        </a:rPr>
                        <a:t>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70706"/>
                  </a:ext>
                </a:extLst>
              </a:tr>
            </a:tbl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6BC8C7D-D236-49D1-886B-AEB4F06ECDB0}"/>
              </a:ext>
            </a:extLst>
          </p:cNvPr>
          <p:cNvCxnSpPr>
            <a:cxnSpLocks/>
          </p:cNvCxnSpPr>
          <p:nvPr/>
        </p:nvCxnSpPr>
        <p:spPr>
          <a:xfrm>
            <a:off x="774161" y="1191531"/>
            <a:ext cx="853917" cy="60628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D5D18D4-0891-42D3-B149-F2224E03A325}"/>
              </a:ext>
            </a:extLst>
          </p:cNvPr>
          <p:cNvSpPr txBox="1"/>
          <p:nvPr/>
        </p:nvSpPr>
        <p:spPr>
          <a:xfrm>
            <a:off x="1129809" y="1191531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62D431-1D23-4D86-B2CE-F15E400783F1}"/>
              </a:ext>
            </a:extLst>
          </p:cNvPr>
          <p:cNvSpPr txBox="1"/>
          <p:nvPr/>
        </p:nvSpPr>
        <p:spPr>
          <a:xfrm>
            <a:off x="774161" y="1459257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15F6E6-7E3A-413B-95EA-D726D40C1911}"/>
              </a:ext>
            </a:extLst>
          </p:cNvPr>
          <p:cNvSpPr txBox="1"/>
          <p:nvPr/>
        </p:nvSpPr>
        <p:spPr>
          <a:xfrm>
            <a:off x="731838" y="5157738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跑车与普通车辆执行</a:t>
            </a:r>
            <a:r>
              <a:rPr lang="en-US" altLang="zh-CN" sz="1600" dirty="0">
                <a:latin typeface="+mn-ea"/>
              </a:rPr>
              <a:t>MLR</a:t>
            </a:r>
            <a:r>
              <a:rPr lang="zh-CN" altLang="en-US" sz="1600" dirty="0">
                <a:latin typeface="+mn-ea"/>
              </a:rPr>
              <a:t>指令时调用原子操作类型是相同的：前进</a:t>
            </a:r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格、后退</a:t>
            </a:r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格、左转</a:t>
            </a:r>
            <a:r>
              <a:rPr lang="en-US" altLang="zh-CN" sz="1600" dirty="0">
                <a:latin typeface="+mn-ea"/>
              </a:rPr>
              <a:t>90</a:t>
            </a:r>
            <a:r>
              <a:rPr lang="zh-CN" altLang="en-US" sz="1600" dirty="0">
                <a:latin typeface="+mn-ea"/>
              </a:rPr>
              <a:t>度、右转</a:t>
            </a:r>
            <a:r>
              <a:rPr lang="en-US" altLang="zh-CN" sz="1600" dirty="0">
                <a:latin typeface="+mn-ea"/>
              </a:rPr>
              <a:t>90</a:t>
            </a:r>
            <a:r>
              <a:rPr lang="zh-CN" altLang="en-US" sz="1600" dirty="0">
                <a:latin typeface="+mn-ea"/>
              </a:rPr>
              <a:t>度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5" name="圆角矩形 13">
            <a:extLst>
              <a:ext uri="{FF2B5EF4-FFF2-40B4-BE49-F238E27FC236}">
                <a16:creationId xmlns:a16="http://schemas.microsoft.com/office/drawing/2014/main" id="{AADA536A-B849-47AB-A68C-5BE183D4EAEA}"/>
              </a:ext>
            </a:extLst>
          </p:cNvPr>
          <p:cNvSpPr/>
          <p:nvPr/>
        </p:nvSpPr>
        <p:spPr bwMode="auto">
          <a:xfrm>
            <a:off x="4475355" y="2146076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9EF22C84-C7CA-4B96-8071-D63EF3724CFB}"/>
              </a:ext>
            </a:extLst>
          </p:cNvPr>
          <p:cNvSpPr/>
          <p:nvPr/>
        </p:nvSpPr>
        <p:spPr bwMode="auto">
          <a:xfrm>
            <a:off x="4475355" y="2536344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7" name="圆角矩形 13">
            <a:extLst>
              <a:ext uri="{FF2B5EF4-FFF2-40B4-BE49-F238E27FC236}">
                <a16:creationId xmlns:a16="http://schemas.microsoft.com/office/drawing/2014/main" id="{DDF49238-1F1C-4627-9622-066B30B0C826}"/>
              </a:ext>
            </a:extLst>
          </p:cNvPr>
          <p:cNvSpPr/>
          <p:nvPr/>
        </p:nvSpPr>
        <p:spPr bwMode="auto">
          <a:xfrm>
            <a:off x="4446984" y="3602689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8" name="圆角矩形 13">
            <a:extLst>
              <a:ext uri="{FF2B5EF4-FFF2-40B4-BE49-F238E27FC236}">
                <a16:creationId xmlns:a16="http://schemas.microsoft.com/office/drawing/2014/main" id="{01449CE1-948E-4470-808E-DD81084D8E05}"/>
              </a:ext>
            </a:extLst>
          </p:cNvPr>
          <p:cNvSpPr/>
          <p:nvPr/>
        </p:nvSpPr>
        <p:spPr bwMode="auto">
          <a:xfrm>
            <a:off x="4446984" y="4216999"/>
            <a:ext cx="960372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29" name="圆角矩形 13">
            <a:extLst>
              <a:ext uri="{FF2B5EF4-FFF2-40B4-BE49-F238E27FC236}">
                <a16:creationId xmlns:a16="http://schemas.microsoft.com/office/drawing/2014/main" id="{01E3A4DF-A2E3-4A29-BAC0-ACCB86C3A7E1}"/>
              </a:ext>
            </a:extLst>
          </p:cNvPr>
          <p:cNvSpPr/>
          <p:nvPr/>
        </p:nvSpPr>
        <p:spPr bwMode="auto">
          <a:xfrm>
            <a:off x="8306639" y="1797811"/>
            <a:ext cx="1233819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0" name="圆角矩形 13">
            <a:extLst>
              <a:ext uri="{FF2B5EF4-FFF2-40B4-BE49-F238E27FC236}">
                <a16:creationId xmlns:a16="http://schemas.microsoft.com/office/drawing/2014/main" id="{2FCE9F8A-A6E7-4FD8-93E4-8400AE5F1FBB}"/>
              </a:ext>
            </a:extLst>
          </p:cNvPr>
          <p:cNvSpPr/>
          <p:nvPr/>
        </p:nvSpPr>
        <p:spPr bwMode="auto">
          <a:xfrm>
            <a:off x="9769817" y="1797781"/>
            <a:ext cx="1233819" cy="33782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0EC269-B274-47E3-8225-D4A6CA2846C5}"/>
              </a:ext>
            </a:extLst>
          </p:cNvPr>
          <p:cNvSpPr txBox="1"/>
          <p:nvPr/>
        </p:nvSpPr>
        <p:spPr>
          <a:xfrm>
            <a:off x="682766" y="766478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跑车与普通车辆都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支持的相同的指令</a:t>
            </a:r>
            <a:r>
              <a:rPr lang="zh-CN" altLang="en-US" sz="1600" dirty="0">
                <a:latin typeface="+mn-ea"/>
              </a:rPr>
              <a:t>，两者对比如下：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646EA1-1492-4438-A9C4-4673471D37C1}"/>
              </a:ext>
            </a:extLst>
          </p:cNvPr>
          <p:cNvSpPr txBox="1"/>
          <p:nvPr/>
        </p:nvSpPr>
        <p:spPr>
          <a:xfrm>
            <a:off x="731838" y="5992464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跑车与普通车辆执行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M/L/R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指令的原子操作组合并不相同，如倒车状态下普通车辆后退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格，但跑车后退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格</a:t>
            </a:r>
          </a:p>
        </p:txBody>
      </p:sp>
      <p:sp>
        <p:nvSpPr>
          <p:cNvPr id="33" name="圆角矩形 13">
            <a:extLst>
              <a:ext uri="{FF2B5EF4-FFF2-40B4-BE49-F238E27FC236}">
                <a16:creationId xmlns:a16="http://schemas.microsoft.com/office/drawing/2014/main" id="{9B6573B8-9EF9-4C30-9D74-6C87BB9A5769}"/>
              </a:ext>
            </a:extLst>
          </p:cNvPr>
          <p:cNvSpPr/>
          <p:nvPr/>
        </p:nvSpPr>
        <p:spPr bwMode="auto">
          <a:xfrm>
            <a:off x="2557886" y="1198089"/>
            <a:ext cx="5854594" cy="4072180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89CBF80-078F-4441-9BC7-B659DEECC088}"/>
              </a:ext>
            </a:extLst>
          </p:cNvPr>
          <p:cNvSpPr txBox="1"/>
          <p:nvPr/>
        </p:nvSpPr>
        <p:spPr>
          <a:xfrm>
            <a:off x="731838" y="5582791"/>
            <a:ext cx="10641624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跑车与普通车辆执行</a:t>
            </a:r>
            <a:r>
              <a:rPr lang="en-US" altLang="zh-CN" sz="1600" dirty="0">
                <a:latin typeface="+mn-ea"/>
              </a:rPr>
              <a:t>F/B</a:t>
            </a:r>
            <a:r>
              <a:rPr lang="zh-CN" altLang="en-US" sz="1600" dirty="0">
                <a:latin typeface="+mn-ea"/>
              </a:rPr>
              <a:t>指令的动作是相同的：设置加速状态、设置倒车状态</a:t>
            </a:r>
            <a:endParaRPr lang="en-US" altLang="zh-CN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139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/>
      <p:bldP spid="33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92008B-66B1-42F5-9A17-89124F3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96" y="942150"/>
            <a:ext cx="5905804" cy="5639090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方案分析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8EA3E9-4F1E-47B2-A26D-2413E2B4F5DA}"/>
              </a:ext>
            </a:extLst>
          </p:cNvPr>
          <p:cNvSpPr txBox="1"/>
          <p:nvPr/>
        </p:nvSpPr>
        <p:spPr>
          <a:xfrm>
            <a:off x="703030" y="899437"/>
            <a:ext cx="5541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根据前面的分析结果，可以确定跑车与普通车辆：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AD3D81-44BE-427C-8C6E-B8F4FDB8E901}"/>
              </a:ext>
            </a:extLst>
          </p:cNvPr>
          <p:cNvSpPr txBox="1"/>
          <p:nvPr/>
        </p:nvSpPr>
        <p:spPr>
          <a:xfrm>
            <a:off x="731837" y="3475583"/>
            <a:ext cx="55416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</a:rPr>
              <a:t>指令编排层：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M/L/R</a:t>
            </a:r>
            <a:r>
              <a:rPr lang="zh-CN" altLang="en-US" dirty="0">
                <a:latin typeface="+mn-ea"/>
              </a:rPr>
              <a:t>指令进行原子操作的编排逻辑存在差异。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可通过提供差异化的指令编排能力，实现对不同车辆类型的支持</a:t>
            </a:r>
            <a:r>
              <a:rPr lang="zh-CN" altLang="en-US" dirty="0">
                <a:latin typeface="+mn-ea"/>
              </a:rPr>
              <a:t>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2F0638-FEAE-45B5-9E9E-38DE9FD7DDF5}"/>
              </a:ext>
            </a:extLst>
          </p:cNvPr>
          <p:cNvSpPr txBox="1"/>
          <p:nvPr/>
        </p:nvSpPr>
        <p:spPr>
          <a:xfrm>
            <a:off x="708289" y="1252607"/>
            <a:ext cx="547956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</a:rPr>
              <a:t>接口层：</a:t>
            </a:r>
            <a:r>
              <a:rPr lang="zh-CN" altLang="en-US" dirty="0">
                <a:latin typeface="+mn-ea"/>
              </a:rPr>
              <a:t>提供初始化、指令执行和查询三个方法。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、指令执行和查询两个方法功能相同，所以不同车辆类型可以复用；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、不同的车辆类型可以通过</a:t>
            </a:r>
            <a:r>
              <a:rPr lang="en-US" altLang="zh-CN" dirty="0">
                <a:latin typeface="+mn-ea"/>
              </a:rPr>
              <a:t>Executor</a:t>
            </a:r>
            <a:r>
              <a:rPr lang="zh-CN" altLang="en-US" dirty="0">
                <a:latin typeface="+mn-ea"/>
              </a:rPr>
              <a:t>中增加车辆信息来区分，</a:t>
            </a:r>
            <a:r>
              <a:rPr lang="en-US" altLang="zh-CN" dirty="0">
                <a:latin typeface="+mn-ea"/>
              </a:rPr>
              <a:t>SportsCarExecutor</a:t>
            </a:r>
            <a:r>
              <a:rPr lang="zh-CN" altLang="en-US" dirty="0">
                <a:latin typeface="+mn-ea"/>
              </a:rPr>
              <a:t>尽量复用</a:t>
            </a:r>
            <a:r>
              <a:rPr lang="en-US" altLang="zh-CN" dirty="0">
                <a:latin typeface="+mn-ea"/>
              </a:rPr>
              <a:t>Executor</a:t>
            </a:r>
            <a:r>
              <a:rPr lang="zh-CN" altLang="en-US" dirty="0">
                <a:latin typeface="+mn-ea"/>
              </a:rPr>
              <a:t>已有功能。</a:t>
            </a:r>
            <a:endParaRPr lang="en-US" altLang="zh-CN" dirty="0">
              <a:latin typeface="+mn-ea"/>
            </a:endParaRPr>
          </a:p>
        </p:txBody>
      </p:sp>
      <p:cxnSp>
        <p:nvCxnSpPr>
          <p:cNvPr id="24" name="直接连接符 74">
            <a:extLst>
              <a:ext uri="{FF2B5EF4-FFF2-40B4-BE49-F238E27FC236}">
                <a16:creationId xmlns:a16="http://schemas.microsoft.com/office/drawing/2014/main" id="{BCD7AA19-12F1-4DDA-80B2-826070F84924}"/>
              </a:ext>
            </a:extLst>
          </p:cNvPr>
          <p:cNvCxnSpPr>
            <a:cxnSpLocks/>
          </p:cNvCxnSpPr>
          <p:nvPr/>
        </p:nvCxnSpPr>
        <p:spPr bwMode="auto">
          <a:xfrm flipH="1">
            <a:off x="5962390" y="2426438"/>
            <a:ext cx="6216910" cy="0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74">
            <a:extLst>
              <a:ext uri="{FF2B5EF4-FFF2-40B4-BE49-F238E27FC236}">
                <a16:creationId xmlns:a16="http://schemas.microsoft.com/office/drawing/2014/main" id="{128CB4CA-4DC4-45F5-9A92-C851E9332350}"/>
              </a:ext>
            </a:extLst>
          </p:cNvPr>
          <p:cNvCxnSpPr>
            <a:cxnSpLocks/>
          </p:cNvCxnSpPr>
          <p:nvPr/>
        </p:nvCxnSpPr>
        <p:spPr bwMode="auto">
          <a:xfrm flipH="1">
            <a:off x="6096001" y="4303666"/>
            <a:ext cx="6083299" cy="0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D4A58F6B-8C95-4C64-A6A4-733102FA2ACD}"/>
              </a:ext>
            </a:extLst>
          </p:cNvPr>
          <p:cNvSpPr txBox="1"/>
          <p:nvPr/>
        </p:nvSpPr>
        <p:spPr>
          <a:xfrm>
            <a:off x="8271527" y="1930768"/>
            <a:ext cx="1374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接口层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0B605D4-B069-4C3A-A882-5628BFF75F17}"/>
              </a:ext>
            </a:extLst>
          </p:cNvPr>
          <p:cNvSpPr txBox="1"/>
          <p:nvPr/>
        </p:nvSpPr>
        <p:spPr>
          <a:xfrm>
            <a:off x="8271526" y="3826569"/>
            <a:ext cx="1374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指令编排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层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68A6BA-DF64-4800-81C7-722DADA7D112}"/>
              </a:ext>
            </a:extLst>
          </p:cNvPr>
          <p:cNvSpPr txBox="1"/>
          <p:nvPr/>
        </p:nvSpPr>
        <p:spPr>
          <a:xfrm>
            <a:off x="8539267" y="5073121"/>
            <a:ext cx="1374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原子操作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层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9" name="圆角矩形 13">
            <a:extLst>
              <a:ext uri="{FF2B5EF4-FFF2-40B4-BE49-F238E27FC236}">
                <a16:creationId xmlns:a16="http://schemas.microsoft.com/office/drawing/2014/main" id="{8B5511AB-D4E2-4780-9684-23C1C7697988}"/>
              </a:ext>
            </a:extLst>
          </p:cNvPr>
          <p:cNvSpPr/>
          <p:nvPr/>
        </p:nvSpPr>
        <p:spPr bwMode="auto">
          <a:xfrm>
            <a:off x="8370917" y="3178024"/>
            <a:ext cx="2994046" cy="52607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85048E-057B-4231-BD2D-50FEE32FF326}"/>
              </a:ext>
            </a:extLst>
          </p:cNvPr>
          <p:cNvSpPr txBox="1"/>
          <p:nvPr/>
        </p:nvSpPr>
        <p:spPr>
          <a:xfrm>
            <a:off x="703029" y="4903234"/>
            <a:ext cx="54848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</a:rPr>
              <a:t>原子操作层：</a:t>
            </a:r>
            <a:r>
              <a:rPr lang="en-US" altLang="zh-CN" dirty="0">
                <a:latin typeface="+mn-ea"/>
              </a:rPr>
              <a:t>M/L/R</a:t>
            </a:r>
            <a:r>
              <a:rPr lang="zh-CN" altLang="en-US" dirty="0">
                <a:latin typeface="+mn-ea"/>
              </a:rPr>
              <a:t>指令执行时调用，原子操作行为逻辑一致，所有车辆类型共用。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可复用已有设计和代码</a:t>
            </a:r>
            <a:r>
              <a:rPr lang="zh-CN" altLang="en-US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2393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方案设计</a:t>
            </a:r>
            <a:endParaRPr lang="zh-CN" altLang="en-US" dirty="0">
              <a:highlight>
                <a:srgbClr val="FFFF00"/>
              </a:highlight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734E0C0-27E9-4EE2-BCE5-539B1088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05" y="1216041"/>
            <a:ext cx="7057807" cy="452519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D42EBD8-D559-4FE9-98A0-02D9D1E76221}"/>
              </a:ext>
            </a:extLst>
          </p:cNvPr>
          <p:cNvSpPr txBox="1"/>
          <p:nvPr/>
        </p:nvSpPr>
        <p:spPr>
          <a:xfrm>
            <a:off x="7585676" y="2967044"/>
            <a:ext cx="4420951" cy="1579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提炼抽象类型</a:t>
            </a:r>
            <a:r>
              <a:rPr lang="en-US" altLang="zh-CN" dirty="0">
                <a:latin typeface="+mn-ea"/>
              </a:rPr>
              <a:t>Assembler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以抽象方式定义多个类型的共享行为，实现行为上对类型的统一约束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重复的编排流程定义为默认实现的方法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558B4BED-1F38-4C68-BA39-679E144BF55E}"/>
              </a:ext>
            </a:extLst>
          </p:cNvPr>
          <p:cNvSpPr/>
          <p:nvPr/>
        </p:nvSpPr>
        <p:spPr bwMode="auto">
          <a:xfrm>
            <a:off x="2762250" y="3756652"/>
            <a:ext cx="3068924" cy="50275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71A562-83E3-482E-A018-B4CCAA136DD6}"/>
              </a:ext>
            </a:extLst>
          </p:cNvPr>
          <p:cNvSpPr txBox="1"/>
          <p:nvPr/>
        </p:nvSpPr>
        <p:spPr>
          <a:xfrm>
            <a:off x="4382810" y="5741278"/>
            <a:ext cx="3321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扩展车辆类型，跑车实现抽象类型</a:t>
            </a:r>
          </a:p>
        </p:txBody>
      </p:sp>
      <p:sp>
        <p:nvSpPr>
          <p:cNvPr id="23" name="圆角矩形 13">
            <a:extLst>
              <a:ext uri="{FF2B5EF4-FFF2-40B4-BE49-F238E27FC236}">
                <a16:creationId xmlns:a16="http://schemas.microsoft.com/office/drawing/2014/main" id="{E12FA78F-875C-47A9-BA54-46EDF69B17B5}"/>
              </a:ext>
            </a:extLst>
          </p:cNvPr>
          <p:cNvSpPr/>
          <p:nvPr/>
        </p:nvSpPr>
        <p:spPr bwMode="auto">
          <a:xfrm>
            <a:off x="1250312" y="5201530"/>
            <a:ext cx="2847319" cy="50275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4" name="圆角矩形 13">
            <a:extLst>
              <a:ext uri="{FF2B5EF4-FFF2-40B4-BE49-F238E27FC236}">
                <a16:creationId xmlns:a16="http://schemas.microsoft.com/office/drawing/2014/main" id="{FB450E76-E7C8-400C-BF7B-1EA5768B2334}"/>
              </a:ext>
            </a:extLst>
          </p:cNvPr>
          <p:cNvSpPr/>
          <p:nvPr/>
        </p:nvSpPr>
        <p:spPr bwMode="auto">
          <a:xfrm>
            <a:off x="4495968" y="5184816"/>
            <a:ext cx="2847319" cy="50275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6F7ADC77-588B-426F-8159-C39E3FE62E52}"/>
              </a:ext>
            </a:extLst>
          </p:cNvPr>
          <p:cNvSpPr/>
          <p:nvPr/>
        </p:nvSpPr>
        <p:spPr bwMode="auto">
          <a:xfrm>
            <a:off x="3146998" y="1737360"/>
            <a:ext cx="2288602" cy="185614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1D7FAF-065F-44F9-ADA4-6DE1ABD26F85}"/>
              </a:ext>
            </a:extLst>
          </p:cNvPr>
          <p:cNvSpPr txBox="1"/>
          <p:nvPr/>
        </p:nvSpPr>
        <p:spPr>
          <a:xfrm>
            <a:off x="4823072" y="3168635"/>
            <a:ext cx="1964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提炼抽象类型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468C24-B96E-41A7-A273-B182D810E9C7}"/>
              </a:ext>
            </a:extLst>
          </p:cNvPr>
          <p:cNvSpPr txBox="1"/>
          <p:nvPr/>
        </p:nvSpPr>
        <p:spPr>
          <a:xfrm>
            <a:off x="1142246" y="5739742"/>
            <a:ext cx="2618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普通车辆实现抽象类型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BE90C1-DB60-4F11-B9C3-520A7DB7A2AD}"/>
              </a:ext>
            </a:extLst>
          </p:cNvPr>
          <p:cNvSpPr txBox="1"/>
          <p:nvPr/>
        </p:nvSpPr>
        <p:spPr>
          <a:xfrm>
            <a:off x="7585677" y="788525"/>
            <a:ext cx="4420950" cy="1948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不同的车辆类型通过不同的</a:t>
            </a:r>
            <a:r>
              <a:rPr lang="en-US" altLang="zh-CN" dirty="0">
                <a:latin typeface="+mn-ea"/>
              </a:rPr>
              <a:t>State</a:t>
            </a:r>
            <a:r>
              <a:rPr lang="zh-CN" altLang="en-US" dirty="0">
                <a:latin typeface="+mn-ea"/>
              </a:rPr>
              <a:t>来区分</a:t>
            </a:r>
            <a:r>
              <a:rPr lang="en-US" altLang="zh-CN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Executor</a:t>
            </a:r>
            <a:r>
              <a:rPr lang="zh-CN" altLang="en-US" sz="1600" dirty="0">
                <a:latin typeface="+mn-ea"/>
              </a:rPr>
              <a:t>的初始化方法创建包含</a:t>
            </a:r>
            <a:r>
              <a:rPr lang="en-US" altLang="zh-CN" sz="1600" dirty="0">
                <a:latin typeface="+mn-ea"/>
              </a:rPr>
              <a:t>State</a:t>
            </a:r>
            <a:r>
              <a:rPr lang="zh-CN" altLang="en-US" sz="1600" dirty="0">
                <a:latin typeface="+mn-ea"/>
              </a:rPr>
              <a:t>实例的</a:t>
            </a:r>
            <a:r>
              <a:rPr lang="en-US" altLang="zh-CN" sz="1600" dirty="0">
                <a:latin typeface="+mn-ea"/>
              </a:rPr>
              <a:t>Executor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SportsCarExecutor</a:t>
            </a:r>
            <a:r>
              <a:rPr lang="zh-CN" altLang="en-US" sz="1600" dirty="0">
                <a:latin typeface="+mn-ea"/>
              </a:rPr>
              <a:t>的初始化方法创建包含</a:t>
            </a:r>
            <a:r>
              <a:rPr lang="en-US" altLang="zh-CN" sz="1600" dirty="0">
                <a:latin typeface="+mn-ea"/>
              </a:rPr>
              <a:t>SportsCarState</a:t>
            </a:r>
            <a:r>
              <a:rPr lang="zh-CN" altLang="en-US" sz="1600" dirty="0">
                <a:latin typeface="+mn-ea"/>
              </a:rPr>
              <a:t>实例的</a:t>
            </a:r>
            <a:r>
              <a:rPr lang="en-US" altLang="zh-CN" sz="1600" dirty="0">
                <a:latin typeface="+mn-ea"/>
              </a:rPr>
              <a:t>Executor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9B6A378-A371-4231-BEDB-1489D0EE730C}"/>
              </a:ext>
            </a:extLst>
          </p:cNvPr>
          <p:cNvSpPr txBox="1"/>
          <p:nvPr/>
        </p:nvSpPr>
        <p:spPr>
          <a:xfrm>
            <a:off x="7590939" y="5029533"/>
            <a:ext cx="4546292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不同车辆在具体类型中实现不同的编排逻辑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869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 animBg="1"/>
      <p:bldP spid="22" grpId="0"/>
      <p:bldP spid="23" grpId="0" animBg="1"/>
      <p:bldP spid="24" grpId="0" animBg="1"/>
      <p:bldP spid="26" grpId="0" animBg="1"/>
      <p:bldP spid="27" grpId="0"/>
      <p:bldP spid="28" grpId="0"/>
      <p:bldP spid="1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919E1697-0849-46E4-AAE7-08B42AE2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方案实现：提炼抽象类型</a:t>
            </a:r>
            <a:r>
              <a:rPr lang="en-US" altLang="zh-CN" dirty="0"/>
              <a:t>Assembler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DD01859D-819F-4644-A00F-C1189C4F6BBB}"/>
              </a:ext>
            </a:extLst>
          </p:cNvPr>
          <p:cNvSpPr txBox="1"/>
          <p:nvPr/>
        </p:nvSpPr>
        <p:spPr>
          <a:xfrm>
            <a:off x="659466" y="832837"/>
            <a:ext cx="5199467" cy="5749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新建文件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src/assembler.rs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6576F-1A17-4A86-AE07-9E3ABE5A2433}"/>
              </a:ext>
            </a:extLst>
          </p:cNvPr>
          <p:cNvSpPr/>
          <p:nvPr/>
        </p:nvSpPr>
        <p:spPr>
          <a:xfrm>
            <a:off x="731838" y="1337323"/>
            <a:ext cx="4659735" cy="37548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trait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char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match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cmd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'M'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'L'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AA198"/>
                </a:solidFill>
              </a:rPr>
              <a:t>'R'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_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&gt;;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be_reverse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be_fast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9" name="圆角矩形 13">
            <a:extLst>
              <a:ext uri="{FF2B5EF4-FFF2-40B4-BE49-F238E27FC236}">
                <a16:creationId xmlns:a16="http://schemas.microsoft.com/office/drawing/2014/main" id="{16C3A0FC-E265-4143-89D3-593319B3E2E3}"/>
              </a:ext>
            </a:extLst>
          </p:cNvPr>
          <p:cNvSpPr/>
          <p:nvPr/>
        </p:nvSpPr>
        <p:spPr bwMode="auto">
          <a:xfrm>
            <a:off x="981132" y="1604993"/>
            <a:ext cx="3948315" cy="170347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08CCA91A-71E5-4F44-880C-A5FE08A53EDA}"/>
              </a:ext>
            </a:extLst>
          </p:cNvPr>
          <p:cNvSpPr/>
          <p:nvPr/>
        </p:nvSpPr>
        <p:spPr bwMode="auto">
          <a:xfrm>
            <a:off x="981378" y="3429000"/>
            <a:ext cx="3948315" cy="777240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69BCE59B-BEEC-4FB5-9FBD-5F91CB1F2DC0}"/>
              </a:ext>
            </a:extLst>
          </p:cNvPr>
          <p:cNvSpPr/>
          <p:nvPr/>
        </p:nvSpPr>
        <p:spPr bwMode="auto">
          <a:xfrm>
            <a:off x="981131" y="4377259"/>
            <a:ext cx="3948315" cy="46871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7400AE-2988-4161-A7A5-F60B5A9E31F3}"/>
              </a:ext>
            </a:extLst>
          </p:cNvPr>
          <p:cNvSpPr txBox="1"/>
          <p:nvPr/>
        </p:nvSpPr>
        <p:spPr>
          <a:xfrm>
            <a:off x="6210122" y="2164341"/>
            <a:ext cx="42805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重复的指令编排流程，提取成接口的默认实现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66FB76-CA0B-4C80-8D24-AED717D3DDB8}"/>
              </a:ext>
            </a:extLst>
          </p:cNvPr>
          <p:cNvSpPr txBox="1"/>
          <p:nvPr/>
        </p:nvSpPr>
        <p:spPr>
          <a:xfrm>
            <a:off x="6210123" y="3642082"/>
            <a:ext cx="4280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M/L/R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指令编排逻辑，定义同名接口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6EA230-31F5-465D-85CB-41E63CECD716}"/>
              </a:ext>
            </a:extLst>
          </p:cNvPr>
          <p:cNvSpPr txBox="1"/>
          <p:nvPr/>
        </p:nvSpPr>
        <p:spPr>
          <a:xfrm>
            <a:off x="6210122" y="4370233"/>
            <a:ext cx="42805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F/B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指令执行逻辑，定义同名接口</a:t>
            </a:r>
          </a:p>
        </p:txBody>
      </p:sp>
    </p:spTree>
    <p:extLst>
      <p:ext uri="{BB962C8B-B14F-4D97-AF65-F5344CB8AC3E}">
        <p14:creationId xmlns:p14="http://schemas.microsoft.com/office/powerpoint/2010/main" val="353003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919E1697-0849-46E4-AAE7-08B42AE2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方案实现：普通车辆实现</a:t>
            </a:r>
            <a:r>
              <a:rPr lang="en-US" altLang="zh-CN" dirty="0"/>
              <a:t>Assembler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DD01859D-819F-4644-A00F-C1189C4F6BBB}"/>
              </a:ext>
            </a:extLst>
          </p:cNvPr>
          <p:cNvSpPr txBox="1"/>
          <p:nvPr/>
        </p:nvSpPr>
        <p:spPr>
          <a:xfrm>
            <a:off x="659466" y="833677"/>
            <a:ext cx="5199467" cy="5740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修改文件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src/state.rs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4289512-1BE8-40CE-8F7E-4646C31EB537}"/>
              </a:ext>
            </a:extLst>
          </p:cNvPr>
          <p:cNvSpPr txBox="1"/>
          <p:nvPr/>
        </p:nvSpPr>
        <p:spPr>
          <a:xfrm>
            <a:off x="6059814" y="833677"/>
            <a:ext cx="5199467" cy="5740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修改文件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src/executor.rs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TextBox 3-is_code">
            <a:extLst>
              <a:ext uri="{FF2B5EF4-FFF2-40B4-BE49-F238E27FC236}">
                <a16:creationId xmlns:a16="http://schemas.microsoft.com/office/drawing/2014/main" id="{C3317FFB-6685-440A-A157-40B73C87B70D}"/>
              </a:ext>
            </a:extLst>
          </p:cNvPr>
          <p:cNvSpPr txBox="1"/>
          <p:nvPr/>
        </p:nvSpPr>
        <p:spPr>
          <a:xfrm>
            <a:off x="659466" y="5214273"/>
            <a:ext cx="6917073" cy="719744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add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commit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-m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lang="en-US" altLang="zh-CN" sz="2000" dirty="0">
                <a:solidFill>
                  <a:srgbClr val="AA1111"/>
                </a:solidFill>
              </a:rPr>
              <a:t>‘extract interface for state’</a:t>
            </a:r>
            <a:endParaRPr sz="2000" dirty="0">
              <a:solidFill>
                <a:srgbClr val="AA111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C69D7-8D6C-451C-AAD2-DE19E0B647E1}"/>
              </a:ext>
            </a:extLst>
          </p:cNvPr>
          <p:cNvSpPr txBox="1"/>
          <p:nvPr/>
        </p:nvSpPr>
        <p:spPr>
          <a:xfrm>
            <a:off x="659466" y="4756230"/>
            <a:ext cx="6296917" cy="485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cargo test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确保编译和用例通过，然后提交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14AD1D-7FCE-4768-BA90-348C6A173D0C}"/>
              </a:ext>
            </a:extLst>
          </p:cNvPr>
          <p:cNvSpPr/>
          <p:nvPr/>
        </p:nvSpPr>
        <p:spPr>
          <a:xfrm>
            <a:off x="731838" y="1303271"/>
            <a:ext cx="4690767" cy="31085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for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</a:rPr>
              <a:t>M</a:t>
            </a:r>
            <a:r>
              <a:rPr lang="zh-CN" altLang="en-US" sz="1400" i="1" dirty="0">
                <a:solidFill>
                  <a:srgbClr val="93A1A1"/>
                </a:solidFill>
              </a:rPr>
              <a:t>指令编排逻辑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</a:rPr>
              <a:t>L</a:t>
            </a:r>
            <a:r>
              <a:rPr lang="zh-CN" altLang="en-US" sz="1400" i="1" dirty="0">
                <a:solidFill>
                  <a:srgbClr val="93A1A1"/>
                </a:solidFill>
              </a:rPr>
              <a:t>指令编排逻辑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省略</a:t>
            </a:r>
            <a:r>
              <a:rPr lang="en-US" altLang="zh-CN" sz="1400" i="1" dirty="0">
                <a:solidFill>
                  <a:srgbClr val="93A1A1"/>
                </a:solidFill>
              </a:rPr>
              <a:t>R</a:t>
            </a:r>
            <a:r>
              <a:rPr lang="zh-CN" altLang="en-US" sz="1400" i="1" dirty="0">
                <a:solidFill>
                  <a:srgbClr val="93A1A1"/>
                </a:solidFill>
              </a:rPr>
              <a:t>指令编排逻辑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b="1" dirty="0">
                <a:solidFill>
                  <a:srgbClr val="859900"/>
                </a:solidFill>
              </a:rPr>
              <a:t>...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省略覆写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F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指令的执行逻辑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E8CB15-7D8D-4765-A18D-7E51F02DD603}"/>
              </a:ext>
            </a:extLst>
          </p:cNvPr>
          <p:cNvSpPr/>
          <p:nvPr/>
        </p:nvSpPr>
        <p:spPr>
          <a:xfrm>
            <a:off x="6131441" y="1303271"/>
            <a:ext cx="4898065" cy="31085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Box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 err="1">
                <a:solidFill>
                  <a:srgbClr val="859900"/>
                </a:solidFill>
              </a:rPr>
              <a:t>dyn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&gt;,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Box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()),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</a:t>
            </a:r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36EB920F-D0DD-4552-8039-4DAE102E9E82}"/>
              </a:ext>
            </a:extLst>
          </p:cNvPr>
          <p:cNvSpPr/>
          <p:nvPr/>
        </p:nvSpPr>
        <p:spPr bwMode="auto">
          <a:xfrm>
            <a:off x="731838" y="1303271"/>
            <a:ext cx="3948315" cy="27152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5BE15487-4A95-4858-8CCB-25052A3E3791}"/>
              </a:ext>
            </a:extLst>
          </p:cNvPr>
          <p:cNvSpPr/>
          <p:nvPr/>
        </p:nvSpPr>
        <p:spPr bwMode="auto">
          <a:xfrm>
            <a:off x="6131441" y="1777571"/>
            <a:ext cx="3948315" cy="27152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213B3BE6-07BA-4C6E-B83D-355090CD3582}"/>
              </a:ext>
            </a:extLst>
          </p:cNvPr>
          <p:cNvSpPr/>
          <p:nvPr/>
        </p:nvSpPr>
        <p:spPr bwMode="auto">
          <a:xfrm>
            <a:off x="6131441" y="3293235"/>
            <a:ext cx="3948315" cy="27152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815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支持跑车：测试设计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1A72F8-9180-4E07-A4E8-52C2A0BE2B98}"/>
              </a:ext>
            </a:extLst>
          </p:cNvPr>
          <p:cNvSpPr txBox="1">
            <a:spLocks/>
          </p:cNvSpPr>
          <p:nvPr/>
        </p:nvSpPr>
        <p:spPr bwMode="auto">
          <a:xfrm>
            <a:off x="731838" y="950552"/>
            <a:ext cx="10728325" cy="4859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pPr>
              <a:lnSpc>
                <a:spcPct val="140000"/>
              </a:lnSpc>
              <a:defRPr sz="28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用例正交分解，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M/L/R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指令对应四种状态：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Normal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方正兰亭黑简体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方正兰亭黑简体"/>
              </a:rPr>
              <a:t>FB</a:t>
            </a:r>
            <a:endParaRPr lang="zh-CN" altLang="en-US" sz="2000" dirty="0">
              <a:solidFill>
                <a:srgbClr val="000000"/>
              </a:solidFill>
              <a:latin typeface="方正兰亭黑简体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A96AC32-9A4F-4F50-B746-5E03E714A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98166"/>
              </p:ext>
            </p:extLst>
          </p:nvPr>
        </p:nvGraphicFramePr>
        <p:xfrm>
          <a:off x="338667" y="1516530"/>
          <a:ext cx="11557000" cy="4224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8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1865715682"/>
                    </a:ext>
                  </a:extLst>
                </a:gridCol>
                <a:gridCol w="1998134">
                  <a:extLst>
                    <a:ext uri="{9D8B030D-6E8A-4147-A177-3AD203B41FA5}">
                      <a16:colId xmlns:a16="http://schemas.microsoft.com/office/drawing/2014/main" val="99805622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1366715491"/>
                    </a:ext>
                  </a:extLst>
                </a:gridCol>
              </a:tblGrid>
              <a:tr h="700216"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Normal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FM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BR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30464B-A8BF-4A0F-B156-39EC69661184}"/>
              </a:ext>
            </a:extLst>
          </p:cNvPr>
          <p:cNvCxnSpPr>
            <a:cxnSpLocks/>
          </p:cNvCxnSpPr>
          <p:nvPr/>
        </p:nvCxnSpPr>
        <p:spPr>
          <a:xfrm>
            <a:off x="338667" y="1516530"/>
            <a:ext cx="1271924" cy="686343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55F16F9-93B7-4C06-B738-A820E7B82657}"/>
              </a:ext>
            </a:extLst>
          </p:cNvPr>
          <p:cNvSpPr txBox="1"/>
          <p:nvPr/>
        </p:nvSpPr>
        <p:spPr>
          <a:xfrm>
            <a:off x="273851" y="1768686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644CE5-DFC1-491A-ADB6-59DE85752D5F}"/>
              </a:ext>
            </a:extLst>
          </p:cNvPr>
          <p:cNvSpPr txBox="1"/>
          <p:nvPr/>
        </p:nvSpPr>
        <p:spPr>
          <a:xfrm>
            <a:off x="810856" y="1500115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C631B0-8243-45B4-920F-7E22251C783B}"/>
              </a:ext>
            </a:extLst>
          </p:cNvPr>
          <p:cNvSpPr txBox="1">
            <a:spLocks/>
          </p:cNvSpPr>
          <p:nvPr/>
        </p:nvSpPr>
        <p:spPr bwMode="auto">
          <a:xfrm>
            <a:off x="802390" y="5945113"/>
            <a:ext cx="10728325" cy="45066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sz="2000" dirty="0">
                <a:latin typeface="+mn-ea"/>
                <a:ea typeface="+mn-ea"/>
              </a:rPr>
              <a:t>跑车速度很快，相比普通车辆指令执行完后还会往前冲一点</a:t>
            </a:r>
          </a:p>
        </p:txBody>
      </p:sp>
    </p:spTree>
    <p:extLst>
      <p:ext uri="{BB962C8B-B14F-4D97-AF65-F5344CB8AC3E}">
        <p14:creationId xmlns:p14="http://schemas.microsoft.com/office/powerpoint/2010/main" val="176866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支持跑车：测试用例（共</a:t>
            </a:r>
            <a:r>
              <a:rPr lang="en-US" altLang="zh-CN" dirty="0"/>
              <a:t>12</a:t>
            </a:r>
            <a:r>
              <a:rPr lang="zh-CN" altLang="en-US" dirty="0"/>
              <a:t>个）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D2EC63-CDC8-4199-935A-3253A46E86BD}"/>
              </a:ext>
            </a:extLst>
          </p:cNvPr>
          <p:cNvSpPr/>
          <p:nvPr/>
        </p:nvSpPr>
        <p:spPr>
          <a:xfrm>
            <a:off x="731838" y="933450"/>
            <a:ext cx="1046956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93A1A1"/>
                </a:solidFill>
              </a:rPr>
              <a:t>// M</a:t>
            </a:r>
            <a:r>
              <a:rPr lang="zh-CN" altLang="en-US" sz="2000" i="1" dirty="0">
                <a:solidFill>
                  <a:srgbClr val="93A1A1"/>
                </a:solidFill>
              </a:rPr>
              <a:t>指令</a:t>
            </a:r>
            <a:endParaRPr lang="en-US" altLang="zh-CN" sz="2000" dirty="0">
              <a:solidFill>
                <a:srgbClr val="268BD2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should_return_x_plus_2_given_command_is_m_and_facing_is_e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should_return_x_mius_2_given_command_is_bm_and_facing_is_e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should_return_x_plus_4_given_command_is_fm_and_facing_is_e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should_return_x_mius_4_given_command_is_fbm_and_facing_is_e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endParaRPr lang="en-US" altLang="zh-CN" sz="2000" i="1" dirty="0">
              <a:solidFill>
                <a:srgbClr val="93A1A1"/>
              </a:solidFill>
            </a:endParaRPr>
          </a:p>
          <a:p>
            <a:r>
              <a:rPr lang="en-US" altLang="zh-CN" sz="2000" i="1" dirty="0">
                <a:solidFill>
                  <a:srgbClr val="93A1A1"/>
                </a:solidFill>
              </a:rPr>
              <a:t>// L</a:t>
            </a:r>
            <a:r>
              <a:rPr lang="zh-CN" altLang="en-US" sz="2000" i="1" dirty="0">
                <a:solidFill>
                  <a:srgbClr val="93A1A1"/>
                </a:solidFill>
              </a:rPr>
              <a:t>指令</a:t>
            </a:r>
            <a:br>
              <a:rPr lang="en-US" altLang="zh-CN" sz="2000" dirty="0">
                <a:solidFill>
                  <a:srgbClr val="657B83"/>
                </a:solidFill>
              </a:rPr>
            </a:br>
            <a:r>
              <a:rPr lang="en-US" altLang="zh-CN" sz="2000" dirty="0">
                <a:solidFill>
                  <a:srgbClr val="268BD2"/>
                </a:solidFill>
              </a:rPr>
              <a:t>should_return_y_plus_1_and_facing_n_given_command_is_l_and_facing_is_e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should_returny_y_plus_1_and_facing_s_given_command_is_bl_and_facing_is_e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should_return_x_plus_1_y_plus_1_and_facing_n_given_command_is_fl_and_facing_is_e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should_return_x_mius_1_y_plus_1_and_facing_s_given_command_is_fbl_and_facing_is_e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endParaRPr lang="en-US" altLang="zh-CN" sz="2000" i="1" dirty="0">
              <a:solidFill>
                <a:srgbClr val="93A1A1"/>
              </a:solidFill>
            </a:endParaRPr>
          </a:p>
          <a:p>
            <a:r>
              <a:rPr lang="en-US" altLang="zh-CN" sz="2000" i="1" dirty="0">
                <a:solidFill>
                  <a:srgbClr val="93A1A1"/>
                </a:solidFill>
              </a:rPr>
              <a:t>// R</a:t>
            </a:r>
            <a:r>
              <a:rPr lang="zh-CN" altLang="en-US" sz="2000" i="1" dirty="0">
                <a:solidFill>
                  <a:srgbClr val="93A1A1"/>
                </a:solidFill>
              </a:rPr>
              <a:t>指令</a:t>
            </a:r>
            <a:br>
              <a:rPr lang="en-US" altLang="zh-CN" sz="2000" dirty="0">
                <a:solidFill>
                  <a:srgbClr val="657B83"/>
                </a:solidFill>
              </a:rPr>
            </a:br>
            <a:r>
              <a:rPr lang="en-US" altLang="zh-CN" sz="2000" dirty="0">
                <a:solidFill>
                  <a:srgbClr val="268BD2"/>
                </a:solidFill>
              </a:rPr>
              <a:t>should_return_y_mius_1_and_facing_s_given_command_is_r_and_facing_is_e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should_return_y_mius_1_and_facing_n_given_command_is_br_and_facing_is_e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should_return_x_plus_1_y_mius_1_and_facing_s_given_command_is_fr_and_facing_is_e</a:t>
            </a:r>
            <a:endParaRPr lang="en-US" altLang="zh-CN" sz="2000" dirty="0">
              <a:solidFill>
                <a:srgbClr val="657B83"/>
              </a:solidFill>
            </a:endParaRPr>
          </a:p>
          <a:p>
            <a:r>
              <a:rPr lang="en-US" altLang="zh-CN" sz="2000" dirty="0">
                <a:solidFill>
                  <a:srgbClr val="268BD2"/>
                </a:solidFill>
              </a:rPr>
              <a:t>should_return_x_mius_1_y_mius_1_and_facing_n_given_command_is_fbr_and_facing_is_e</a:t>
            </a:r>
            <a:endParaRPr lang="en-US" altLang="zh-CN" sz="20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0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完成跑车</a:t>
            </a:r>
            <a:r>
              <a:rPr lang="en-US" altLang="zh-CN" dirty="0"/>
              <a:t>M</a:t>
            </a:r>
            <a:r>
              <a:rPr lang="zh-CN" altLang="en-US" dirty="0"/>
              <a:t>指令的测试用例编写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708939FC-35A3-487E-B5A3-36B683E8B79B}"/>
              </a:ext>
            </a:extLst>
          </p:cNvPr>
          <p:cNvSpPr txBox="1"/>
          <p:nvPr/>
        </p:nvSpPr>
        <p:spPr>
          <a:xfrm>
            <a:off x="731838" y="1180531"/>
            <a:ext cx="10479798" cy="105087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在编写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功能代码</a:t>
            </a:r>
            <a:r>
              <a:rPr sz="2000" i="0" dirty="0" err="1">
                <a:solidFill>
                  <a:srgbClr val="000000"/>
                </a:solidFill>
                <a:latin typeface="+mn-ea"/>
              </a:rPr>
              <a:t>前，先编写测试用例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。</a:t>
            </a: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新增文件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+mn-ea"/>
              </a:rPr>
              <a:t>tests</a:t>
            </a:r>
            <a:r>
              <a:rPr lang="en-US" sz="2000" dirty="0">
                <a:solidFill>
                  <a:srgbClr val="000000"/>
                </a:solidFill>
                <a:latin typeface="+mn-ea"/>
              </a:rPr>
              <a:t>/sports_car_test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+mn-ea"/>
              </a:rPr>
              <a:t>rs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54BB57-B634-4438-B1C7-B2EE253F2285}"/>
              </a:ext>
            </a:extLst>
          </p:cNvPr>
          <p:cNvSpPr/>
          <p:nvPr/>
        </p:nvSpPr>
        <p:spPr>
          <a:xfrm>
            <a:off x="831075" y="2300298"/>
            <a:ext cx="9482506" cy="32932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59900"/>
                </a:solidFill>
              </a:rPr>
              <a:t>use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657B83"/>
                </a:solidFill>
              </a:rPr>
              <a:t>{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CB4B16"/>
                </a:solidFill>
              </a:rPr>
              <a:t>SportsCarExecutor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as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};</a:t>
            </a:r>
          </a:p>
          <a:p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should_return_x_plus_2_given_command_is_m_and_facing_is_e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</a:t>
            </a:r>
            <a:r>
              <a:rPr lang="en-US" altLang="zh-CN" sz="1600" b="1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should_return_x_plus_4_given_command_is_fm_and_facing_is_e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 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should_return_x_mius_2_given_command_is_bm_and_facing_is_e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</a:t>
            </a:r>
            <a:r>
              <a:rPr lang="en-US" altLang="zh-CN" sz="1600" i="1" dirty="0">
                <a:solidFill>
                  <a:srgbClr val="93A1A1"/>
                </a:solidFill>
              </a:rPr>
              <a:t> 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should_return_x_mius_4_given_command_is_fbm_and_facing_is_e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 </a:t>
            </a:r>
            <a:r>
              <a:rPr lang="en-US" altLang="zh-CN" sz="1600" b="1" dirty="0">
                <a:solidFill>
                  <a:srgbClr val="859900"/>
                </a:solidFill>
              </a:rPr>
              <a:t>... </a:t>
            </a:r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4922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完成跑车</a:t>
            </a:r>
            <a:r>
              <a:rPr lang="en-US" altLang="zh-CN" dirty="0"/>
              <a:t>M</a:t>
            </a:r>
            <a:r>
              <a:rPr lang="zh-CN" altLang="en-US" dirty="0"/>
              <a:t>指令的测试用例编写</a:t>
            </a:r>
            <a:r>
              <a:rPr lang="en-US" altLang="zh-CN" dirty="0"/>
              <a:t>-</a:t>
            </a:r>
            <a:r>
              <a:rPr lang="zh-CN" altLang="en-US" dirty="0"/>
              <a:t>参考代码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786577D-B763-4A41-87D3-55EBA8E65BAE}"/>
              </a:ext>
            </a:extLst>
          </p:cNvPr>
          <p:cNvSpPr txBox="1"/>
          <p:nvPr/>
        </p:nvSpPr>
        <p:spPr>
          <a:xfrm>
            <a:off x="516000" y="4801285"/>
            <a:ext cx="11160000" cy="90524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执行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cargo test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后，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得到预期的失败，确保</a:t>
            </a:r>
            <a:r>
              <a:rPr sz="2000" i="0" dirty="0" err="1">
                <a:solidFill>
                  <a:srgbClr val="000000"/>
                </a:solidFill>
                <a:latin typeface="+mn-ea"/>
              </a:rPr>
              <a:t>新增的用例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的有效性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。</a:t>
            </a:r>
          </a:p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  <a:latin typeface="+mn-ea"/>
              </a:rPr>
              <a:t>提交git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，确保用例的独立性：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TextBox 3-is_code">
            <a:extLst>
              <a:ext uri="{FF2B5EF4-FFF2-40B4-BE49-F238E27FC236}">
                <a16:creationId xmlns:a16="http://schemas.microsoft.com/office/drawing/2014/main" id="{8428AEC6-5C90-462B-97B0-6E4B3B605304}"/>
              </a:ext>
            </a:extLst>
          </p:cNvPr>
          <p:cNvSpPr txBox="1"/>
          <p:nvPr/>
        </p:nvSpPr>
        <p:spPr>
          <a:xfrm>
            <a:off x="641028" y="5706532"/>
            <a:ext cx="9020423" cy="704000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add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commit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-m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AA1111"/>
                </a:solidFill>
              </a:rPr>
              <a:t>‘add test cases of command M for sports car’</a:t>
            </a:r>
            <a:endParaRPr dirty="0">
              <a:solidFill>
                <a:srgbClr val="AA111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9C2F52-ED6E-446A-82C6-9F83F0B32115}"/>
              </a:ext>
            </a:extLst>
          </p:cNvPr>
          <p:cNvSpPr/>
          <p:nvPr/>
        </p:nvSpPr>
        <p:spPr>
          <a:xfrm>
            <a:off x="641028" y="869301"/>
            <a:ext cx="9020423" cy="40318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59900"/>
                </a:solidFill>
              </a:rPr>
              <a:t>use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657B83"/>
                </a:solidFill>
              </a:rPr>
              <a:t>{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CB4B16"/>
                </a:solidFill>
              </a:rPr>
              <a:t>SportsCarExecutor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as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};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should_return_x_plus_2_given_command_is_m_and_facing_is_e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600" i="1" dirty="0">
                <a:solidFill>
                  <a:srgbClr val="93A1A1"/>
                </a:solidFill>
              </a:rPr>
              <a:t>    // given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268BD2"/>
                </a:solidFill>
              </a:rPr>
              <a:t>new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2AA198"/>
                </a:solidFill>
              </a:rPr>
              <a:t>'E'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b="1" dirty="0">
                <a:solidFill>
                  <a:srgbClr val="859900"/>
                </a:solidFill>
              </a:rPr>
              <a:t>mut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 err="1">
                <a:solidFill>
                  <a:srgbClr val="268BD2"/>
                </a:solidFill>
              </a:rPr>
              <a:t>with_pose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i="1" dirty="0">
                <a:solidFill>
                  <a:srgbClr val="93A1A1"/>
                </a:solidFill>
              </a:rPr>
              <a:t>    // when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dirty="0" err="1">
                <a:solidFill>
                  <a:srgbClr val="268BD2"/>
                </a:solidFill>
              </a:rPr>
              <a:t>executor</a:t>
            </a:r>
            <a:r>
              <a:rPr lang="en-US" altLang="zh-CN" sz="1600" dirty="0" err="1">
                <a:solidFill>
                  <a:srgbClr val="859900"/>
                </a:solidFill>
              </a:rPr>
              <a:t>.</a:t>
            </a:r>
            <a:r>
              <a:rPr lang="en-US" altLang="zh-CN" sz="1600" dirty="0" err="1">
                <a:solidFill>
                  <a:srgbClr val="268BD2"/>
                </a:solidFill>
              </a:rPr>
              <a:t>execute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2AA198"/>
                </a:solidFill>
              </a:rPr>
              <a:t>"M"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br>
              <a:rPr lang="en-US" altLang="zh-CN" sz="1600" dirty="0">
                <a:solidFill>
                  <a:srgbClr val="657B83"/>
                </a:solidFill>
              </a:rPr>
            </a:br>
            <a:r>
              <a:rPr lang="en-US" altLang="zh-CN" sz="1600" i="1" dirty="0">
                <a:solidFill>
                  <a:srgbClr val="93A1A1"/>
                </a:solidFill>
              </a:rPr>
              <a:t>    // then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268BD2"/>
                </a:solidFill>
              </a:rPr>
              <a:t>new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D33682"/>
                </a:solidFill>
              </a:rPr>
              <a:t>2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2AA198"/>
                </a:solidFill>
              </a:rPr>
              <a:t>'E'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dirty="0" err="1">
                <a:solidFill>
                  <a:srgbClr val="268BD2"/>
                </a:solidFill>
              </a:rPr>
              <a:t>assert_eq</a:t>
            </a:r>
            <a:r>
              <a:rPr lang="en-US" altLang="zh-CN" sz="1600" dirty="0">
                <a:solidFill>
                  <a:srgbClr val="268BD2"/>
                </a:solidFill>
              </a:rPr>
              <a:t>!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 err="1">
                <a:solidFill>
                  <a:srgbClr val="268BD2"/>
                </a:solidFill>
              </a:rPr>
              <a:t>executor</a:t>
            </a:r>
            <a:r>
              <a:rPr lang="en-US" altLang="zh-CN" sz="1600" dirty="0" err="1">
                <a:solidFill>
                  <a:srgbClr val="859900"/>
                </a:solidFill>
              </a:rPr>
              <a:t>.</a:t>
            </a:r>
            <a:r>
              <a:rPr lang="en-US" altLang="zh-CN" sz="1600" dirty="0" err="1">
                <a:solidFill>
                  <a:srgbClr val="268BD2"/>
                </a:solidFill>
              </a:rPr>
              <a:t>query</a:t>
            </a:r>
            <a:r>
              <a:rPr lang="en-US" altLang="zh-CN" sz="16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  <a:p>
            <a:r>
              <a:rPr lang="en-US" altLang="zh-CN" sz="1600" b="1" dirty="0">
                <a:solidFill>
                  <a:srgbClr val="859900"/>
                </a:solidFill>
              </a:rPr>
              <a:t>...</a:t>
            </a:r>
            <a:endParaRPr lang="en-US" altLang="zh-CN" sz="1600" dirty="0">
              <a:solidFill>
                <a:srgbClr val="657B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97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>
            <a:normAutofit/>
          </a:bodyPr>
          <a:lstStyle/>
          <a:p>
            <a:r>
              <a:rPr lang="zh-CN" altLang="en-US" dirty="0"/>
              <a:t>完成跑车</a:t>
            </a:r>
            <a:r>
              <a:rPr lang="en-US" altLang="zh-CN" dirty="0"/>
              <a:t>M</a:t>
            </a:r>
            <a:r>
              <a:rPr lang="zh-CN" altLang="en-US" dirty="0"/>
              <a:t>指令的功能实现，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编写刚好让测试通过的代码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2DCB19CC-AD06-43C3-A84A-79C9084888CD}"/>
              </a:ext>
            </a:extLst>
          </p:cNvPr>
          <p:cNvSpPr txBox="1"/>
          <p:nvPr/>
        </p:nvSpPr>
        <p:spPr>
          <a:xfrm>
            <a:off x="611999" y="933450"/>
            <a:ext cx="11342933" cy="6244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跑车与普通车辆执行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MLR</a:t>
            </a: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指令的操作不同，新建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文件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src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/sports_car_state.rs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67BFEA-5C92-460B-B662-B6FD1A09C5B9}"/>
              </a:ext>
            </a:extLst>
          </p:cNvPr>
          <p:cNvSpPr/>
          <p:nvPr/>
        </p:nvSpPr>
        <p:spPr>
          <a:xfrm>
            <a:off x="611998" y="1419432"/>
            <a:ext cx="5303839" cy="46166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derive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Copy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Clone</a:t>
            </a:r>
            <a:r>
              <a:rPr lang="en-US" altLang="zh-CN" sz="1400" dirty="0">
                <a:solidFill>
                  <a:srgbClr val="657B83"/>
                </a:solidFill>
              </a:rPr>
              <a:t>)]</a:t>
            </a:r>
            <a:endParaRPr lang="en-US" altLang="zh-CN" sz="1400" dirty="0">
              <a:solidFill>
                <a:srgbClr val="859900"/>
              </a:solidFill>
            </a:endParaRP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bool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Assembler</a:t>
            </a:r>
            <a:r>
              <a:rPr lang="en-US" altLang="zh-CN" sz="1400" dirty="0">
                <a:solidFill>
                  <a:srgbClr val="657B83"/>
                </a:solidFill>
              </a:rPr>
              <a:t> for </a:t>
            </a:r>
            <a:r>
              <a:rPr lang="en-US" altLang="zh-CN" sz="1400" dirty="0">
                <a:solidFill>
                  <a:srgbClr val="CB4B16"/>
                </a:solidFill>
              </a:rPr>
              <a:t>SportsCarState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   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move_assemble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b="1" dirty="0">
                <a:solidFill>
                  <a:srgbClr val="859900"/>
                </a:solidFill>
              </a:rPr>
              <a:t>let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actions</a:t>
            </a:r>
            <a:r>
              <a:rPr lang="en-US" altLang="zh-CN" sz="1400" dirty="0" err="1">
                <a:solidFill>
                  <a:srgbClr val="859900"/>
                </a:solidFill>
              </a:rPr>
              <a:t>.</a:t>
            </a:r>
            <a:r>
              <a:rPr lang="en-US" altLang="zh-CN" sz="1400" dirty="0" err="1">
                <a:solidFill>
                  <a:srgbClr val="268BD2"/>
                </a:solidFill>
              </a:rPr>
              <a:t>push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                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Forward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if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-1</a:t>
            </a:r>
            <a:r>
              <a:rPr lang="en-US" altLang="zh-CN" sz="1400" dirty="0">
                <a:solidFill>
                  <a:srgbClr val="657B83"/>
                </a:solidFill>
              </a:rPr>
              <a:t> } </a:t>
            </a:r>
            <a:r>
              <a:rPr lang="en-US" altLang="zh-CN" sz="1400" dirty="0">
                <a:solidFill>
                  <a:srgbClr val="859900"/>
                </a:solidFill>
              </a:rPr>
              <a:t>else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D33682"/>
                </a:solidFill>
              </a:rPr>
              <a:t>1</a:t>
            </a:r>
            <a:r>
              <a:rPr lang="en-US" altLang="zh-CN" sz="1400" dirty="0">
                <a:solidFill>
                  <a:srgbClr val="657B83"/>
                </a:solidFill>
              </a:rPr>
              <a:t> }));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268BD2"/>
                </a:solidFill>
              </a:rPr>
              <a:t>actions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14DEE4-8064-43AE-9ADC-71475BA4A22A}"/>
              </a:ext>
            </a:extLst>
          </p:cNvPr>
          <p:cNvSpPr/>
          <p:nvPr/>
        </p:nvSpPr>
        <p:spPr>
          <a:xfrm>
            <a:off x="6071682" y="1419432"/>
            <a:ext cx="5727405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    </a:t>
            </a:r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// trait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中接口没有默认实现，具体类型必须覆写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turn_left_assemble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  <a:latin typeface="Consolas" panose="020B0609020204030204" pitchFamily="49" charset="0"/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  <a:latin typeface="Consolas" panose="020B0609020204030204" pitchFamily="49" charset="0"/>
              </a:rPr>
              <a:t>!</a:t>
            </a:r>
            <a:r>
              <a:rPr lang="en-US" altLang="zh-CN" sz="1400" dirty="0">
                <a:solidFill>
                  <a:srgbClr val="657B83"/>
                </a:solidFill>
                <a:latin typeface="Consolas" panose="020B0609020204030204" pitchFamily="49" charset="0"/>
              </a:rPr>
              <a:t>()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  // trait</a:t>
            </a:r>
            <a:r>
              <a:rPr lang="zh-CN" altLang="en-US" sz="1400" i="1" dirty="0">
                <a:solidFill>
                  <a:srgbClr val="93A1A1"/>
                </a:solidFill>
                <a:latin typeface="Consolas" panose="020B0609020204030204" pitchFamily="49" charset="0"/>
              </a:rPr>
              <a:t>中接口没有默认实现，具体类型必须覆写</a:t>
            </a:r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turn_right_assemble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CB4B16"/>
                </a:solidFill>
              </a:rPr>
              <a:t>Vec</a:t>
            </a:r>
            <a:r>
              <a:rPr lang="en-US" altLang="zh-CN" sz="1400" dirty="0">
                <a:solidFill>
                  <a:srgbClr val="657B83"/>
                </a:solidFill>
              </a:rPr>
              <a:t>&lt;</a:t>
            </a:r>
            <a:r>
              <a:rPr lang="en-US" altLang="zh-CN" sz="1400" dirty="0">
                <a:solidFill>
                  <a:srgbClr val="CB4B16"/>
                </a:solidFill>
              </a:rPr>
              <a:t>Action</a:t>
            </a:r>
            <a:r>
              <a:rPr lang="en-US" altLang="zh-CN" sz="1400" dirty="0">
                <a:solidFill>
                  <a:srgbClr val="657B83"/>
                </a:solidFill>
              </a:rPr>
              <a:t>&gt;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  <a:latin typeface="Consolas" panose="020B0609020204030204" pitchFamily="49" charset="0"/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  <a:latin typeface="Consolas" panose="020B0609020204030204" pitchFamily="49" charset="0"/>
              </a:rPr>
              <a:t>!</a:t>
            </a:r>
            <a:r>
              <a:rPr lang="en-US" altLang="zh-CN" sz="1400" dirty="0">
                <a:solidFill>
                  <a:srgbClr val="657B83"/>
                </a:solidFill>
                <a:latin typeface="Consolas" panose="020B0609020204030204" pitchFamily="49" charset="0"/>
              </a:rPr>
              <a:t>()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be_reverse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!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is_reverse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be_fast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=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!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is_fast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C6C4B206-C0E3-4902-B39A-D9EBE07FB171}"/>
              </a:ext>
            </a:extLst>
          </p:cNvPr>
          <p:cNvSpPr txBox="1"/>
          <p:nvPr/>
        </p:nvSpPr>
        <p:spPr>
          <a:xfrm>
            <a:off x="6014720" y="5118681"/>
            <a:ext cx="5703087" cy="9173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不同的车辆类型对指令编排流程</a:t>
            </a:r>
            <a:r>
              <a:rPr lang="en-US" altLang="zh-CN" dirty="0">
                <a:solidFill>
                  <a:srgbClr val="C00000"/>
                </a:solidFill>
              </a:rPr>
              <a:t>assemble</a:t>
            </a:r>
            <a:r>
              <a:rPr lang="zh-CN" altLang="en-US" dirty="0">
                <a:solidFill>
                  <a:srgbClr val="C00000"/>
                </a:solidFill>
              </a:rPr>
              <a:t>没有差异，已在</a:t>
            </a:r>
            <a:r>
              <a:rPr lang="en-US" altLang="zh-CN" dirty="0">
                <a:solidFill>
                  <a:srgbClr val="C00000"/>
                </a:solidFill>
              </a:rPr>
              <a:t>trait</a:t>
            </a:r>
            <a:r>
              <a:rPr lang="zh-CN" altLang="en-US" dirty="0">
                <a:solidFill>
                  <a:srgbClr val="C00000"/>
                </a:solidFill>
              </a:rPr>
              <a:t>中定义方法并默认实现，此处不需要覆写。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24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6A7FAAFC-B604-4D26-83FF-4BD0B81B492C}"/>
              </a:ext>
            </a:extLst>
          </p:cNvPr>
          <p:cNvSpPr txBox="1">
            <a:spLocks/>
          </p:cNvSpPr>
          <p:nvPr/>
        </p:nvSpPr>
        <p:spPr bwMode="auto">
          <a:xfrm>
            <a:off x="621303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 fontScale="97500"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dirty="0"/>
              <a:t>跑车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接口整改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D114BC-37A6-4A86-99CD-482A92BCA50B}"/>
              </a:ext>
            </a:extLst>
          </p:cNvPr>
          <p:cNvSpPr txBox="1"/>
          <p:nvPr/>
        </p:nvSpPr>
        <p:spPr>
          <a:xfrm>
            <a:off x="619802" y="873391"/>
            <a:ext cx="10238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跑车复用普通车辆的</a:t>
            </a:r>
            <a:r>
              <a:rPr lang="en-US" altLang="zh-CN" sz="1600" dirty="0">
                <a:latin typeface="+mn-ea"/>
              </a:rPr>
              <a:t>Executor</a:t>
            </a:r>
            <a:r>
              <a:rPr lang="zh-CN" altLang="en-US" sz="1600" dirty="0">
                <a:latin typeface="+mn-ea"/>
              </a:rPr>
              <a:t>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C559F8-F04D-4D96-904A-AB8257C618FC}"/>
              </a:ext>
            </a:extLst>
          </p:cNvPr>
          <p:cNvSpPr/>
          <p:nvPr/>
        </p:nvSpPr>
        <p:spPr>
          <a:xfrm>
            <a:off x="6341110" y="1453150"/>
            <a:ext cx="4579994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657B83"/>
                </a:solidFill>
              </a:rPr>
              <a:t>{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};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CB4B16"/>
                </a:solidFill>
              </a:rPr>
              <a:t>        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state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Box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SportsCarState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268BD2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()),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075FC26-ECBB-4712-8BFE-E9117B80F612}"/>
              </a:ext>
            </a:extLst>
          </p:cNvPr>
          <p:cNvSpPr/>
          <p:nvPr/>
        </p:nvSpPr>
        <p:spPr>
          <a:xfrm>
            <a:off x="5811156" y="2720194"/>
            <a:ext cx="419588" cy="369188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631B06-210B-4A73-BDED-888D1D61CA87}"/>
              </a:ext>
            </a:extLst>
          </p:cNvPr>
          <p:cNvSpPr/>
          <p:nvPr/>
        </p:nvSpPr>
        <p:spPr>
          <a:xfrm>
            <a:off x="731838" y="1211945"/>
            <a:ext cx="4968952" cy="37548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268BD2"/>
                </a:solidFill>
              </a:rPr>
              <a:t>todo</a:t>
            </a:r>
            <a:r>
              <a:rPr lang="en-US" altLang="zh-CN" sz="1400" dirty="0">
                <a:solidFill>
                  <a:srgbClr val="268BD2"/>
                </a:solidFill>
              </a:rPr>
              <a:t>!</a:t>
            </a:r>
            <a:r>
              <a:rPr lang="en-US" altLang="zh-CN" sz="1400" dirty="0">
                <a:solidFill>
                  <a:srgbClr val="657B83"/>
                </a:solidFill>
              </a:rPr>
              <a:t>()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BF897055-2B23-47AC-83F4-FFC4B99BA319}"/>
              </a:ext>
            </a:extLst>
          </p:cNvPr>
          <p:cNvSpPr/>
          <p:nvPr/>
        </p:nvSpPr>
        <p:spPr bwMode="auto">
          <a:xfrm>
            <a:off x="9154419" y="2548830"/>
            <a:ext cx="1026852" cy="25780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B8422EFA-0FD6-4382-A14F-5BE60DB22A56}"/>
              </a:ext>
            </a:extLst>
          </p:cNvPr>
          <p:cNvSpPr/>
          <p:nvPr/>
        </p:nvSpPr>
        <p:spPr bwMode="auto">
          <a:xfrm>
            <a:off x="3615266" y="2305377"/>
            <a:ext cx="1026852" cy="25780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1A7D3C-BFC4-4BFE-8558-DF483353C015}"/>
              </a:ext>
            </a:extLst>
          </p:cNvPr>
          <p:cNvSpPr txBox="1"/>
          <p:nvPr/>
        </p:nvSpPr>
        <p:spPr>
          <a:xfrm>
            <a:off x="6341110" y="4382044"/>
            <a:ext cx="4643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SportsCarExecutor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现在是一个工厂，通过创建一个</a:t>
            </a:r>
            <a:r>
              <a:rPr lang="en-US" altLang="zh-CN" sz="1600" dirty="0">
                <a:solidFill>
                  <a:srgbClr val="C00000"/>
                </a:solidFill>
                <a:latin typeface="+mn-ea"/>
              </a:rPr>
              <a:t>Executor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实例来复用已有代码</a:t>
            </a:r>
          </a:p>
        </p:txBody>
      </p:sp>
      <p:sp>
        <p:nvSpPr>
          <p:cNvPr id="17" name="TextBox 3-is_code">
            <a:extLst>
              <a:ext uri="{FF2B5EF4-FFF2-40B4-BE49-F238E27FC236}">
                <a16:creationId xmlns:a16="http://schemas.microsoft.com/office/drawing/2014/main" id="{1F6B9EFF-0CA8-4AC9-98C7-4216837E14D7}"/>
              </a:ext>
            </a:extLst>
          </p:cNvPr>
          <p:cNvSpPr txBox="1"/>
          <p:nvPr/>
        </p:nvSpPr>
        <p:spPr>
          <a:xfrm>
            <a:off x="731838" y="5567848"/>
            <a:ext cx="6440955" cy="704000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add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dirty="0">
                <a:solidFill>
                  <a:srgbClr val="3300AA"/>
                </a:solidFill>
              </a:rPr>
              <a:t>git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commit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dirty="0">
                <a:solidFill>
                  <a:srgbClr val="3300AA"/>
                </a:solidFill>
              </a:rPr>
              <a:t>-m</a:t>
            </a:r>
            <a:r>
              <a:rPr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AA1111"/>
                </a:solidFill>
              </a:rPr>
              <a:t>‘pass test cases of command M </a:t>
            </a:r>
            <a:r>
              <a:rPr lang="en-US" altLang="zh-CN" dirty="0">
                <a:solidFill>
                  <a:srgbClr val="C00000"/>
                </a:solidFill>
              </a:rPr>
              <a:t>for sports car</a:t>
            </a:r>
            <a:r>
              <a:rPr lang="en-US" altLang="zh-CN" dirty="0">
                <a:solidFill>
                  <a:srgbClr val="AA1111"/>
                </a:solidFill>
              </a:rPr>
              <a:t>’</a:t>
            </a:r>
            <a:endParaRPr dirty="0">
              <a:solidFill>
                <a:srgbClr val="AA111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7CE667-B5F7-425E-B224-FEDD666772C7}"/>
              </a:ext>
            </a:extLst>
          </p:cNvPr>
          <p:cNvSpPr txBox="1"/>
          <p:nvPr/>
        </p:nvSpPr>
        <p:spPr>
          <a:xfrm>
            <a:off x="619802" y="4995441"/>
            <a:ext cx="58657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200">
                <a:latin typeface="方正兰亭黑简体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cargo test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 后，用例执行通过，确保功能实现的正确性。</a:t>
            </a:r>
          </a:p>
          <a:p>
            <a:pPr>
              <a:defRPr sz="2200">
                <a:latin typeface="方正兰亭黑简体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提交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，确保功能代码和测试代码是分开的：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3907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/>
      <p:bldP spid="17" grpId="0" animBg="1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练习时间：完成跑车</a:t>
            </a:r>
            <a:r>
              <a:rPr lang="en-US" altLang="zh-CN" dirty="0"/>
              <a:t>L/R</a:t>
            </a:r>
            <a:r>
              <a:rPr lang="zh-CN" altLang="en-US" dirty="0"/>
              <a:t>指令的测试用例编写和功能实现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33CFD7-1F08-4063-A110-A8BCF5E4DAA4}"/>
              </a:ext>
            </a:extLst>
          </p:cNvPr>
          <p:cNvSpPr txBox="1"/>
          <p:nvPr/>
        </p:nvSpPr>
        <p:spPr>
          <a:xfrm>
            <a:off x="589131" y="1355296"/>
            <a:ext cx="11197652" cy="9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践行测试设计原则，按前面演示的步骤，小步提交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命名规范，包括测试代码、业务代码和提交备注信息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5205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>
            <a:extLst>
              <a:ext uri="{FF2B5EF4-FFF2-40B4-BE49-F238E27FC236}">
                <a16:creationId xmlns:a16="http://schemas.microsoft.com/office/drawing/2014/main" id="{7B4011F7-F618-4E2B-89FE-594BE3AD54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483801"/>
            <a:ext cx="10153650" cy="4476424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dirty="0"/>
              <a:t>本节探讨了如何在一个现有的软件系统中引入新的车辆类型，同时保持与原有普通车辆系统的兼容性和可扩展性。</a:t>
            </a:r>
            <a:endParaRPr lang="en-US" altLang="zh-CN" dirty="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接口设计：</a:t>
            </a:r>
            <a:endParaRPr lang="en-US" altLang="zh-CN" sz="18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遵循接口设计的兼容性原则，确保新增车辆类型的同时，不影响原接口的使用</a:t>
            </a:r>
            <a:endParaRPr lang="en-US" altLang="zh-CN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抽象类型：</a:t>
            </a:r>
            <a:endParaRPr lang="en-US" altLang="zh-CN" sz="1800" dirty="0">
              <a:solidFill>
                <a:srgbClr val="111111"/>
              </a:solidFill>
              <a:latin typeface="方正兰亭黑简体" panose="02000000000000000000" pitchFamily="2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依赖抽象类型而非具体实现，增强了架构的灵活性和可维护性</a:t>
            </a:r>
            <a:endParaRPr lang="en-US" altLang="zh-CN" sz="1800" dirty="0"/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/>
              <a:t>通过</a:t>
            </a:r>
            <a:r>
              <a:rPr lang="en-US" altLang="zh-CN" sz="1800" dirty="0"/>
              <a:t>trait</a:t>
            </a:r>
            <a:r>
              <a:rPr lang="zh-CN" altLang="en-US" sz="1800" dirty="0"/>
              <a:t>方法的默认实现，仅需维护一份代码，提高代码复用率</a:t>
            </a:r>
            <a:endParaRPr lang="en-US" altLang="zh-CN" sz="1800" dirty="0"/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新增车辆实现抽象类型，通过新增代码扩展新增车辆的指令编排逻辑</a:t>
            </a:r>
          </a:p>
        </p:txBody>
      </p:sp>
    </p:spTree>
    <p:extLst>
      <p:ext uri="{BB962C8B-B14F-4D97-AF65-F5344CB8AC3E}">
        <p14:creationId xmlns:p14="http://schemas.microsoft.com/office/powerpoint/2010/main" val="1865168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7910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96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工程目录结构设计分析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0161E1C-CB18-4490-B8E7-440FC52E0C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9903" y="2909587"/>
            <a:ext cx="7418739" cy="2778579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8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当前工程文</a:t>
            </a:r>
            <a:r>
              <a:rPr lang="zh-CN" altLang="en-US" sz="1800" b="1" dirty="0">
                <a:solidFill>
                  <a:srgbClr val="111111"/>
                </a:solidFill>
                <a:latin typeface="+mn-ea"/>
                <a:ea typeface="+mn-ea"/>
              </a:rPr>
              <a:t>件管理分析</a:t>
            </a:r>
            <a:r>
              <a:rPr lang="zh-CN" altLang="en-US" sz="18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</a:t>
            </a:r>
            <a:endParaRPr lang="en-US" altLang="zh-CN" sz="18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代码文件平铺在同一目录下，缺乏层次结构</a:t>
            </a:r>
            <a:endParaRPr lang="en-US" altLang="zh-CN" sz="18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代码文件之间的依赖关系和模块划分不明显</a:t>
            </a:r>
            <a:r>
              <a:rPr lang="zh-CN" altLang="en-US" sz="1800" dirty="0">
                <a:solidFill>
                  <a:srgbClr val="111111"/>
                </a:solidFill>
                <a:latin typeface="+mn-ea"/>
                <a:ea typeface="+mn-ea"/>
              </a:rPr>
              <a:t>，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难以直观地理解代码的模块化和层次关系</a:t>
            </a:r>
            <a:endParaRPr lang="en-US" altLang="zh-CN" sz="18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影响代码的可读性和维护性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2CFDF-60A1-4F54-9215-5BDE844E4CBD}"/>
              </a:ext>
            </a:extLst>
          </p:cNvPr>
          <p:cNvSpPr txBox="1"/>
          <p:nvPr/>
        </p:nvSpPr>
        <p:spPr>
          <a:xfrm>
            <a:off x="735051" y="1160290"/>
            <a:ext cx="7682984" cy="1297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方正兰亭黑简体"/>
                <a:ea typeface="方正兰亭黑简体"/>
                <a:cs typeface="+mn-cs"/>
              </a:rPr>
              <a:t>在企业软件开发中，代码工程的规模通常非常庞大，可能涉及数百甚至上千个代码文件。如何有效管理这些代码文件，成为一个亟需解决的关键问题。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516CCD-A486-447B-A278-C35DB6455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428" y="1265122"/>
            <a:ext cx="3087343" cy="472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8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33022-71D7-440C-B4E3-83BA3BFA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目录结构设计参考原则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2E173C-45F4-4F9D-A806-2AA4383E9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>
                <a:latin typeface="+mn-ea"/>
              </a:rPr>
              <a:t>标准化：</a:t>
            </a:r>
            <a:r>
              <a:rPr lang="zh-CN" altLang="en-US" sz="2000" dirty="0">
                <a:latin typeface="+mn-ea"/>
              </a:rPr>
              <a:t>遵循行业标准和最佳实践，例如</a:t>
            </a:r>
            <a:r>
              <a:rPr lang="en-US" altLang="zh-CN" sz="2000" dirty="0">
                <a:latin typeface="+mn-ea"/>
              </a:rPr>
              <a:t>Cargo</a:t>
            </a:r>
            <a:r>
              <a:rPr lang="zh-CN" altLang="en-US" sz="2000" dirty="0">
                <a:latin typeface="+mn-ea"/>
              </a:rPr>
              <a:t>约束及惯例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清晰性：</a:t>
            </a:r>
            <a:r>
              <a:rPr lang="zh-CN" altLang="en-US" sz="2000" dirty="0">
                <a:latin typeface="+mn-ea"/>
                <a:ea typeface="+mn-ea"/>
              </a:rPr>
              <a:t>目录结构清晰明了，易于理解和导航。每个目录的用途应该明确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一致性：</a:t>
            </a:r>
            <a:r>
              <a:rPr lang="zh-CN" altLang="en-US" sz="2000" dirty="0">
                <a:latin typeface="+mn-ea"/>
                <a:ea typeface="+mn-ea"/>
              </a:rPr>
              <a:t>保持一致的命名和组织方式，有助于提高代码的可读性和可维护性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可扩展性：</a:t>
            </a:r>
            <a:r>
              <a:rPr lang="zh-CN" altLang="en-US" sz="2000" dirty="0">
                <a:latin typeface="+mn-ea"/>
                <a:ea typeface="+mn-ea"/>
              </a:rPr>
              <a:t>设计目录结构时要考虑未来的扩展需求，确保新功能或模块可以方便地添加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分离关注点：</a:t>
            </a:r>
            <a:r>
              <a:rPr lang="zh-CN" altLang="en-US" sz="2000" dirty="0">
                <a:latin typeface="+mn-ea"/>
                <a:ea typeface="+mn-ea"/>
              </a:rPr>
              <a:t>将不同的关注点（如接口、实现、测试）分离到不同的目录中，以提高代码的模块化程度</a:t>
            </a:r>
            <a:endParaRPr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6868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6A7FAAFC-B604-4D26-83FF-4BD0B81B492C}"/>
              </a:ext>
            </a:extLst>
          </p:cNvPr>
          <p:cNvSpPr txBox="1">
            <a:spLocks/>
          </p:cNvSpPr>
          <p:nvPr/>
        </p:nvSpPr>
        <p:spPr bwMode="auto">
          <a:xfrm>
            <a:off x="621303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 fontScale="97500"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dirty="0"/>
              <a:t>目录结构设计方案</a:t>
            </a:r>
            <a:endParaRPr lang="zh-CN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C1E5F0C-2E60-45BC-8525-BAD5AAFF4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373822"/>
              </p:ext>
            </p:extLst>
          </p:nvPr>
        </p:nvGraphicFramePr>
        <p:xfrm>
          <a:off x="752453" y="3688865"/>
          <a:ext cx="7464364" cy="25930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5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0734">
                  <a:extLst>
                    <a:ext uri="{9D8B030D-6E8A-4147-A177-3AD203B41FA5}">
                      <a16:colId xmlns:a16="http://schemas.microsoft.com/office/drawing/2014/main" val="99805622"/>
                    </a:ext>
                  </a:extLst>
                </a:gridCol>
              </a:tblGrid>
              <a:tr h="398610"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文件夹（模块）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文件（模块）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接口层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executor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executor.rs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sports_car_executor.rs</a:t>
                      </a: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指令编排层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assembler</a:t>
                      </a:r>
                      <a:endParaRPr lang="en-US" altLang="zh-CN" sz="18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assembler.rs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state.rs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sports_car_state.rs</a:t>
                      </a: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原子操作层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action</a:t>
                      </a:r>
                      <a:endParaRPr lang="zh-CN" altLang="en-US" sz="18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action.rs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pose.rs</a:t>
                      </a:r>
                      <a:endParaRPr lang="zh-CN" altLang="en-US" sz="18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BA0D1DE-C91F-4357-B756-A3040F3CB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114" y="1774031"/>
            <a:ext cx="2155519" cy="33099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E75379-395A-4EB1-BF03-37A2BE8BC56E}"/>
              </a:ext>
            </a:extLst>
          </p:cNvPr>
          <p:cNvSpPr txBox="1"/>
          <p:nvPr/>
        </p:nvSpPr>
        <p:spPr>
          <a:xfrm>
            <a:off x="621303" y="950243"/>
            <a:ext cx="7536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遵循行业标准和最佳实践，已有目录结构满足</a:t>
            </a:r>
            <a:r>
              <a:rPr lang="en-US" altLang="zh-CN" sz="2000" dirty="0">
                <a:latin typeface="+mn-ea"/>
              </a:rPr>
              <a:t>Cargo</a:t>
            </a:r>
            <a:r>
              <a:rPr lang="zh-CN" altLang="en-US" sz="2000" dirty="0">
                <a:latin typeface="+mn-ea"/>
              </a:rPr>
              <a:t>约束及惯例</a:t>
            </a:r>
            <a:r>
              <a:rPr lang="zh-CN" altLang="en-US" sz="1600" dirty="0">
                <a:latin typeface="+mn-ea"/>
              </a:rPr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53B7DC-86CC-439B-8308-6496F3ADAAA3}"/>
              </a:ext>
            </a:extLst>
          </p:cNvPr>
          <p:cNvSpPr txBox="1"/>
          <p:nvPr/>
        </p:nvSpPr>
        <p:spPr>
          <a:xfrm>
            <a:off x="621303" y="3228945"/>
            <a:ext cx="7538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分离关注点，将层次划分文件夹，每个目录用途明确</a:t>
            </a:r>
            <a:r>
              <a:rPr lang="zh-CN" altLang="en-US" sz="1600" dirty="0">
                <a:latin typeface="+mn-ea"/>
              </a:rPr>
              <a:t>：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B2C914-0F2D-4B83-8588-203F2760AED4}"/>
              </a:ext>
            </a:extLst>
          </p:cNvPr>
          <p:cNvSpPr/>
          <p:nvPr/>
        </p:nvSpPr>
        <p:spPr>
          <a:xfrm>
            <a:off x="621303" y="1337961"/>
            <a:ext cx="9958591" cy="1518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7698" indent="-251899" defTabSz="914034" fontAlgn="ctr">
              <a:lnSpc>
                <a:spcPct val="15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对外发布接口：一般使用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lib.rs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进行统一导出 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  <a:ea typeface="方正兰亭黑简体" panose="02000000000000000000" pitchFamily="2" charset="-122"/>
              </a:rPr>
              <a:t> </a:t>
            </a:r>
            <a:r>
              <a:rPr lang="zh-CN" altLang="en-US" sz="1600" b="1" dirty="0">
                <a:solidFill>
                  <a:srgbClr val="00B050"/>
                </a:solidFill>
                <a:latin typeface="方正兰亭黑简体"/>
                <a:ea typeface="方正兰亭黑简体" panose="02000000000000000000" pitchFamily="2" charset="-122"/>
              </a:rPr>
              <a:t>√</a:t>
            </a:r>
            <a:endParaRPr lang="en-US" altLang="zh-CN" sz="1600" dirty="0">
              <a:solidFill>
                <a:prstClr val="black"/>
              </a:solidFill>
              <a:latin typeface="方正兰亭黑简体"/>
            </a:endParaRPr>
          </a:p>
          <a:p>
            <a:pPr marL="197698" indent="-251899" defTabSz="914034" fontAlgn="ctr">
              <a:lnSpc>
                <a:spcPct val="15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测试代码：放在与</a:t>
            </a:r>
            <a:r>
              <a:rPr lang="en-US" altLang="zh-CN" dirty="0" err="1">
                <a:solidFill>
                  <a:prstClr val="black"/>
                </a:solidFill>
                <a:latin typeface="方正兰亭黑简体"/>
              </a:rPr>
              <a:t>src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同级的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tests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目录中，针对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crate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的对外接口进行测试  </a:t>
            </a:r>
            <a:r>
              <a:rPr lang="zh-CN" altLang="en-US" b="1" dirty="0">
                <a:solidFill>
                  <a:srgbClr val="00B050"/>
                </a:solidFill>
                <a:latin typeface="方正兰亭黑简体"/>
                <a:ea typeface="方正兰亭黑简体" panose="02000000000000000000" pitchFamily="2" charset="-122"/>
              </a:rPr>
              <a:t>√</a:t>
            </a:r>
            <a:endParaRPr lang="en-US" altLang="zh-CN" b="1" dirty="0">
              <a:solidFill>
                <a:srgbClr val="00B050"/>
              </a:solidFill>
              <a:latin typeface="方正兰亭黑简体"/>
              <a:ea typeface="方正兰亭黑简体" panose="02000000000000000000" pitchFamily="2" charset="-122"/>
            </a:endParaRPr>
          </a:p>
          <a:p>
            <a:pPr marL="197698" indent="-251899" defTabSz="914034" fontAlgn="ctr">
              <a:lnSpc>
                <a:spcPct val="150000"/>
              </a:lnSpc>
              <a:spcBef>
                <a:spcPts val="72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业务代码：放在</a:t>
            </a:r>
            <a:r>
              <a:rPr lang="en-US" altLang="zh-CN" dirty="0" err="1">
                <a:solidFill>
                  <a:prstClr val="black"/>
                </a:solidFill>
                <a:latin typeface="方正兰亭黑简体"/>
              </a:rPr>
              <a:t>src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目录下的文件或文件夹中，一般不会在</a:t>
            </a:r>
            <a:r>
              <a:rPr lang="en-US" altLang="zh-CN" dirty="0">
                <a:solidFill>
                  <a:prstClr val="black"/>
                </a:solidFill>
                <a:latin typeface="方正兰亭黑简体"/>
              </a:rPr>
              <a:t>lib.rs</a:t>
            </a:r>
            <a:r>
              <a:rPr lang="zh-CN" altLang="en-US" dirty="0">
                <a:solidFill>
                  <a:prstClr val="black"/>
                </a:solidFill>
                <a:latin typeface="方正兰亭黑简体"/>
              </a:rPr>
              <a:t>中写具体的业务逻辑  </a:t>
            </a:r>
            <a:r>
              <a:rPr lang="zh-CN" altLang="en-US" b="1" dirty="0">
                <a:solidFill>
                  <a:srgbClr val="00B050"/>
                </a:solidFill>
                <a:latin typeface="方正兰亭黑简体"/>
                <a:ea typeface="方正兰亭黑简体" panose="02000000000000000000" pitchFamily="2" charset="-122"/>
              </a:rPr>
              <a:t>√</a:t>
            </a:r>
            <a:endParaRPr lang="en-US" altLang="zh-CN" dirty="0">
              <a:solidFill>
                <a:prstClr val="black"/>
              </a:solidFill>
              <a:latin typeface="方正兰亭黑简体"/>
            </a:endParaRPr>
          </a:p>
        </p:txBody>
      </p:sp>
    </p:spTree>
    <p:extLst>
      <p:ext uri="{BB962C8B-B14F-4D97-AF65-F5344CB8AC3E}">
        <p14:creationId xmlns:p14="http://schemas.microsoft.com/office/powerpoint/2010/main" val="96656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>
            <a:extLst>
              <a:ext uri="{FF2B5EF4-FFF2-40B4-BE49-F238E27FC236}">
                <a16:creationId xmlns:a16="http://schemas.microsoft.com/office/drawing/2014/main" id="{2DCB19CC-AD06-43C3-A84A-79C9084888CD}"/>
              </a:ext>
            </a:extLst>
          </p:cNvPr>
          <p:cNvSpPr txBox="1"/>
          <p:nvPr/>
        </p:nvSpPr>
        <p:spPr>
          <a:xfrm>
            <a:off x="935169" y="1065060"/>
            <a:ext cx="8088820" cy="91883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新建文件夹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executor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，搬移指令层文件到当前模块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新建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src/executor/mod.rs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A7FAAFC-B604-4D26-83FF-4BD0B81B492C}"/>
              </a:ext>
            </a:extLst>
          </p:cNvPr>
          <p:cNvSpPr txBox="1">
            <a:spLocks/>
          </p:cNvSpPr>
          <p:nvPr/>
        </p:nvSpPr>
        <p:spPr bwMode="auto">
          <a:xfrm>
            <a:off x="621303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 fontScale="97500"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dirty="0"/>
              <a:t>目录结构优化：调整接口层文件目录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" name="TextBox 3-is_code">
            <a:extLst>
              <a:ext uri="{FF2B5EF4-FFF2-40B4-BE49-F238E27FC236}">
                <a16:creationId xmlns:a16="http://schemas.microsoft.com/office/drawing/2014/main" id="{6A045076-C948-43E7-AA52-BD2FB4EE20C9}"/>
              </a:ext>
            </a:extLst>
          </p:cNvPr>
          <p:cNvSpPr txBox="1"/>
          <p:nvPr/>
        </p:nvSpPr>
        <p:spPr>
          <a:xfrm>
            <a:off x="1006547" y="5316273"/>
            <a:ext cx="7946065" cy="719744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add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sz="2000" dirty="0">
                <a:solidFill>
                  <a:srgbClr val="3300AA"/>
                </a:solidFill>
              </a:rPr>
              <a:t>git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commit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sz="2000" dirty="0">
                <a:solidFill>
                  <a:srgbClr val="3300AA"/>
                </a:solidFill>
              </a:rPr>
              <a:t>-m</a:t>
            </a:r>
            <a:r>
              <a:rPr sz="2000" dirty="0">
                <a:solidFill>
                  <a:srgbClr val="AA1111"/>
                </a:solidFill>
              </a:rPr>
              <a:t> </a:t>
            </a:r>
            <a:r>
              <a:rPr lang="en-US" altLang="zh-CN" sz="2000" dirty="0">
                <a:solidFill>
                  <a:srgbClr val="AA1111"/>
                </a:solidFill>
              </a:rPr>
              <a:t>‘ add folder for interface’</a:t>
            </a:r>
            <a:endParaRPr sz="2000" dirty="0">
              <a:solidFill>
                <a:srgbClr val="AA111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13CCB7-30CC-4D11-9958-55D170C4513D}"/>
              </a:ext>
            </a:extLst>
          </p:cNvPr>
          <p:cNvSpPr txBox="1"/>
          <p:nvPr/>
        </p:nvSpPr>
        <p:spPr>
          <a:xfrm>
            <a:off x="931964" y="4848323"/>
            <a:ext cx="6296917" cy="485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执行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cargo test 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确保编译和用例通过，然后提交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git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2CD95D-0280-410A-B897-A5A013CBBECA}"/>
              </a:ext>
            </a:extLst>
          </p:cNvPr>
          <p:cNvSpPr/>
          <p:nvPr/>
        </p:nvSpPr>
        <p:spPr>
          <a:xfrm>
            <a:off x="1006547" y="2069390"/>
            <a:ext cx="794606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mod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crate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b="1" dirty="0">
                <a:solidFill>
                  <a:srgbClr val="859900"/>
                </a:solidFill>
              </a:rPr>
              <a:t>mod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sports_car_executor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074733F8-E8C8-4EEE-9A28-D13EE2B8AE51}"/>
              </a:ext>
            </a:extLst>
          </p:cNvPr>
          <p:cNvSpPr txBox="1"/>
          <p:nvPr/>
        </p:nvSpPr>
        <p:spPr>
          <a:xfrm>
            <a:off x="863792" y="2940094"/>
            <a:ext cx="8088821" cy="48598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修改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src/lib.rs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，只通过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pub use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重导出对外接口：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7CAF9E-6942-4E3E-8CB9-38E82B973649}"/>
              </a:ext>
            </a:extLst>
          </p:cNvPr>
          <p:cNvSpPr/>
          <p:nvPr/>
        </p:nvSpPr>
        <p:spPr>
          <a:xfrm>
            <a:off x="1006548" y="3407162"/>
            <a:ext cx="794606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859900"/>
                </a:solidFill>
              </a:rPr>
              <a:t>Pub mod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/>
              <a:t>;</a:t>
            </a:r>
          </a:p>
          <a:p>
            <a:r>
              <a:rPr lang="en-US" altLang="zh-CN" sz="1400" b="1" dirty="0">
                <a:solidFill>
                  <a:srgbClr val="859900"/>
                </a:solidFill>
              </a:rPr>
              <a:t>...</a:t>
            </a:r>
            <a:endParaRPr lang="en-US" altLang="zh-CN" sz="1400" dirty="0">
              <a:solidFill>
                <a:srgbClr val="859900"/>
              </a:solidFill>
            </a:endParaRP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;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use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crate::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657B83"/>
                </a:solidFill>
              </a:rPr>
              <a:t>{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CB4B16"/>
                </a:solidFill>
              </a:rPr>
              <a:t>sports_car_executor</a:t>
            </a:r>
            <a:r>
              <a:rPr lang="en-US" altLang="zh-CN" sz="1400" dirty="0">
                <a:solidFill>
                  <a:srgbClr val="859900"/>
                </a:solidFill>
              </a:rPr>
              <a:t>::</a:t>
            </a:r>
            <a:r>
              <a:rPr lang="en-US" altLang="zh-CN" sz="1400" dirty="0">
                <a:solidFill>
                  <a:srgbClr val="CB4B16"/>
                </a:solidFill>
              </a:rPr>
              <a:t>SportsCarExecutor</a:t>
            </a:r>
            <a:r>
              <a:rPr lang="en-US" altLang="zh-CN" sz="1400" dirty="0">
                <a:solidFill>
                  <a:srgbClr val="657B83"/>
                </a:solidFill>
              </a:rPr>
              <a:t>,};</a:t>
            </a:r>
          </a:p>
        </p:txBody>
      </p:sp>
    </p:spTree>
    <p:extLst>
      <p:ext uri="{BB962C8B-B14F-4D97-AF65-F5344CB8AC3E}">
        <p14:creationId xmlns:p14="http://schemas.microsoft.com/office/powerpoint/2010/main" val="6704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150F254-A8AD-4246-BE03-E96B506B984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844674"/>
            <a:ext cx="10153650" cy="4409369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2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目录</a:t>
            </a:r>
            <a:r>
              <a:rPr lang="zh-CN" altLang="en-US" sz="22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结构设计</a:t>
            </a:r>
            <a:r>
              <a:rPr lang="zh-CN" altLang="en-US" sz="22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的重要性</a:t>
            </a:r>
          </a:p>
          <a:p>
            <a:pPr marL="342900" indent="-342900" algn="l">
              <a:lnSpc>
                <a:spcPct val="150000"/>
              </a:lnSpc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模块化设计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  <a:r>
              <a:rPr lang="zh-CN" altLang="en-US" sz="20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按功能或层次划分，确保独立和职责明确</a:t>
            </a:r>
            <a:endParaRPr lang="zh-CN" altLang="en-US" sz="20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提高可维护性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  <a:r>
              <a:rPr lang="zh-CN" altLang="en-US" sz="20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清晰结构，便于理解和维护</a:t>
            </a:r>
            <a:endParaRPr lang="zh-CN" altLang="en-US" sz="20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07558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D81DF0F-440D-4C30-8CF4-C0F5CA9897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697530"/>
            <a:ext cx="10153650" cy="453510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通过本课程的学习：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接口设计：通过保持已有接口不变或前向兼容，提升代码的可维护性</a:t>
            </a:r>
            <a:endParaRPr lang="en-US" altLang="zh-CN" sz="18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类型抽象：通过依赖抽象而不是具体实现，降低模块间耦合</a:t>
            </a: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动态分发：通过使用</a:t>
            </a:r>
            <a:r>
              <a:rPr lang="en-US" altLang="zh-CN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trait</a:t>
            </a:r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对象进行动态分发，提升代码的灵活性和可扩展性</a:t>
            </a:r>
          </a:p>
          <a:p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代码组织：</a:t>
            </a:r>
            <a:r>
              <a:rPr lang="zh-CN" altLang="en-US" sz="1600" dirty="0">
                <a:solidFill>
                  <a:srgbClr val="000000"/>
                </a:solidFill>
              </a:rPr>
              <a:t>通过合理组织代码结构并控制代码可见性，提升代码的安全性和可维护性</a:t>
            </a:r>
            <a:endParaRPr lang="en-US" altLang="zh-CN" sz="18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这些技能和知识将为您在未来的企业软件开发中打下坚实的基础，帮助您成为一名更加专业和高效的软件开发者。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感谢您参与本课程，期待您在未来的软件开发工作中取得更大的成就！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7910" y="1638000"/>
            <a:ext cx="10675910" cy="44938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类型抽象</a:t>
            </a:r>
            <a:endParaRPr lang="en-US" altLang="zh-CN" sz="2200" dirty="0">
              <a:solidFill>
                <a:prstClr val="white">
                  <a:lumMod val="50000"/>
                </a:prstClr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defTabSz="914034" fontAlgn="ctr">
              <a:lnSpc>
                <a:spcPct val="140000"/>
              </a:lnSpc>
              <a:spcBef>
                <a:spcPts val="720"/>
              </a:spcBef>
              <a:buSzPct val="100000"/>
            </a:pPr>
            <a:r>
              <a:rPr lang="en-US" altLang="zh-CN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prstClr val="white">
                    <a:lumMod val="50000"/>
                  </a:prstClr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代码组织</a:t>
            </a:r>
          </a:p>
          <a:p>
            <a:pPr marL="457017" lvl="0" indent="-457017" algn="just" defTabSz="801367" fontAlgn="ctr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+mj-lt"/>
              <a:buAutoNum type="arabicPeriod"/>
            </a:pPr>
            <a:r>
              <a:rPr lang="zh-CN" altLang="en-US" sz="2200" dirty="0"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课后作业</a:t>
            </a:r>
            <a:endParaRPr lang="en-US" altLang="zh-CN" sz="2200" dirty="0"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90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i="0" dirty="0">
                <a:solidFill>
                  <a:srgbClr val="000000"/>
                </a:solidFill>
              </a:rPr>
              <a:t>课程实训</a:t>
            </a:r>
            <a:r>
              <a:rPr i="0" dirty="0">
                <a:solidFill>
                  <a:srgbClr val="000000"/>
                </a:solidFill>
              </a:rPr>
              <a:t>需求3</a:t>
            </a:r>
            <a:r>
              <a:rPr lang="en-US" altLang="zh-CN" i="0" dirty="0">
                <a:solidFill>
                  <a:srgbClr val="000000"/>
                </a:solidFill>
              </a:rPr>
              <a:t>-2</a:t>
            </a:r>
            <a:r>
              <a:rPr i="0" dirty="0">
                <a:solidFill>
                  <a:srgbClr val="000000"/>
                </a:solidFill>
              </a:rPr>
              <a:t>：支持</a:t>
            </a:r>
            <a:r>
              <a:rPr lang="zh-CN" altLang="en-US" i="0" dirty="0">
                <a:solidFill>
                  <a:srgbClr val="000000"/>
                </a:solidFill>
              </a:rPr>
              <a:t>新的车辆类型</a:t>
            </a:r>
            <a:r>
              <a:rPr lang="en-US" altLang="zh-CN" i="0" dirty="0">
                <a:solidFill>
                  <a:srgbClr val="000000"/>
                </a:solidFill>
              </a:rPr>
              <a:t>-</a:t>
            </a:r>
            <a:r>
              <a:rPr lang="zh-CN" altLang="en-US" dirty="0">
                <a:solidFill>
                  <a:srgbClr val="000000"/>
                </a:solidFill>
              </a:rPr>
              <a:t>巴士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74838E-56EB-4208-8ED1-4EA1415B980F}"/>
              </a:ext>
            </a:extLst>
          </p:cNvPr>
          <p:cNvSpPr txBox="1"/>
          <p:nvPr/>
        </p:nvSpPr>
        <p:spPr>
          <a:xfrm>
            <a:off x="535086" y="3003444"/>
            <a:ext cx="65736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+mn-ea"/>
              </a:rPr>
              <a:t>巴士在</a:t>
            </a:r>
            <a:r>
              <a:rPr lang="en-US" altLang="zh-CN" sz="2000" dirty="0">
                <a:latin typeface="+mn-ea"/>
              </a:rPr>
              <a:t>normal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F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B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F&amp;B</a:t>
            </a:r>
            <a:r>
              <a:rPr lang="zh-CN" altLang="en-US" sz="2000" dirty="0">
                <a:latin typeface="+mn-ea"/>
              </a:rPr>
              <a:t>这</a:t>
            </a: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>
                <a:latin typeface="+mn-ea"/>
              </a:rPr>
              <a:t>种状态下执行的操作：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4D9C18-40C4-4685-8BF1-2235EB8B0187}"/>
              </a:ext>
            </a:extLst>
          </p:cNvPr>
          <p:cNvSpPr txBox="1"/>
          <p:nvPr/>
        </p:nvSpPr>
        <p:spPr>
          <a:xfrm>
            <a:off x="731833" y="1143081"/>
            <a:ext cx="9201876" cy="177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巴士车体较长（占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格，坐标是车头的坐标），可以执行：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个基本操作指令：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 M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（移动）、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（左转）和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（右转）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  <a:defRPr sz="2200">
                <a:latin typeface="方正兰亭黑简体"/>
              </a:defRPr>
            </a:pP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个状态指令：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（设置加速状态）和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（设置倒车状态）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支持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两个状态的叠加</a:t>
            </a:r>
            <a:endParaRPr lang="en-US" altLang="zh-CN" sz="20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F34BFF7-56C8-4E8C-8C05-9FBF91857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31831"/>
              </p:ext>
            </p:extLst>
          </p:nvPr>
        </p:nvGraphicFramePr>
        <p:xfrm>
          <a:off x="636879" y="3454447"/>
          <a:ext cx="8864568" cy="3001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979">
                  <a:extLst>
                    <a:ext uri="{9D8B030D-6E8A-4147-A177-3AD203B41FA5}">
                      <a16:colId xmlns:a16="http://schemas.microsoft.com/office/drawing/2014/main" val="220967556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939295114"/>
                    </a:ext>
                  </a:extLst>
                </a:gridCol>
                <a:gridCol w="3067397">
                  <a:extLst>
                    <a:ext uri="{9D8B030D-6E8A-4147-A177-3AD203B41FA5}">
                      <a16:colId xmlns:a16="http://schemas.microsoft.com/office/drawing/2014/main" val="1317657612"/>
                    </a:ext>
                  </a:extLst>
                </a:gridCol>
                <a:gridCol w="3025832">
                  <a:extLst>
                    <a:ext uri="{9D8B030D-6E8A-4147-A177-3AD203B41FA5}">
                      <a16:colId xmlns:a16="http://schemas.microsoft.com/office/drawing/2014/main" val="3988183586"/>
                    </a:ext>
                  </a:extLst>
                </a:gridCol>
              </a:tblGrid>
              <a:tr h="818822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78272"/>
                  </a:ext>
                </a:extLst>
              </a:tr>
              <a:tr h="481611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Normal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格，再左转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格，再右转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289687"/>
                  </a:ext>
                </a:extLst>
              </a:tr>
              <a:tr h="561381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格，右转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格，再左转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372792"/>
                  </a:ext>
                </a:extLst>
              </a:tr>
              <a:tr h="558552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格，再前进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格，而后左转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前进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格，再前进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格，而后右转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10538"/>
                  </a:ext>
                </a:extLst>
              </a:tr>
              <a:tr h="581364"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B&amp;F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格，再后退</a:t>
                      </a:r>
                      <a:r>
                        <a:rPr lang="en-US" altLang="zh-CN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格，而后右转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fontAlgn="ctr" latinLnBrk="0" hangingPunct="1"/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格，再后退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格，而后左转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度</a:t>
                      </a:r>
                    </a:p>
                  </a:txBody>
                  <a:tcPr marL="8689" marR="8689" marT="86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0454"/>
                  </a:ext>
                </a:extLst>
              </a:tr>
            </a:tbl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4A41D0-1D63-4977-A842-7053253AE420}"/>
              </a:ext>
            </a:extLst>
          </p:cNvPr>
          <p:cNvCxnSpPr>
            <a:cxnSpLocks/>
          </p:cNvCxnSpPr>
          <p:nvPr/>
        </p:nvCxnSpPr>
        <p:spPr>
          <a:xfrm>
            <a:off x="636880" y="3458834"/>
            <a:ext cx="1005653" cy="761851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BD00CF5-F889-4599-958A-95B6C90183A4}"/>
              </a:ext>
            </a:extLst>
          </p:cNvPr>
          <p:cNvSpPr txBox="1"/>
          <p:nvPr/>
        </p:nvSpPr>
        <p:spPr>
          <a:xfrm>
            <a:off x="1015882" y="3473565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08B165-7757-4403-8325-15CF4F01C49C}"/>
              </a:ext>
            </a:extLst>
          </p:cNvPr>
          <p:cNvSpPr txBox="1"/>
          <p:nvPr/>
        </p:nvSpPr>
        <p:spPr>
          <a:xfrm>
            <a:off x="636880" y="3882131"/>
            <a:ext cx="62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</p:spTree>
    <p:extLst>
      <p:ext uri="{BB962C8B-B14F-4D97-AF65-F5344CB8AC3E}">
        <p14:creationId xmlns:p14="http://schemas.microsoft.com/office/powerpoint/2010/main" val="17723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2EA5FEE7-AEE6-4E61-A0C6-0EC177E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 dirty="0"/>
              <a:t>支持巴士：测试设计</a:t>
            </a:r>
            <a:endParaRPr lang="zh-CN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A96AC32-9A4F-4F50-B746-5E03E714A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556673"/>
              </p:ext>
            </p:extLst>
          </p:nvPr>
        </p:nvGraphicFramePr>
        <p:xfrm>
          <a:off x="731838" y="1043614"/>
          <a:ext cx="10539618" cy="4224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8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8386">
                  <a:extLst>
                    <a:ext uri="{9D8B030D-6E8A-4147-A177-3AD203B41FA5}">
                      <a16:colId xmlns:a16="http://schemas.microsoft.com/office/drawing/2014/main" val="1865715682"/>
                    </a:ext>
                  </a:extLst>
                </a:gridCol>
                <a:gridCol w="1945178">
                  <a:extLst>
                    <a:ext uri="{9D8B030D-6E8A-4147-A177-3AD203B41FA5}">
                      <a16:colId xmlns:a16="http://schemas.microsoft.com/office/drawing/2014/main" val="99805622"/>
                    </a:ext>
                  </a:extLst>
                </a:gridCol>
                <a:gridCol w="2759826">
                  <a:extLst>
                    <a:ext uri="{9D8B030D-6E8A-4147-A177-3AD203B41FA5}">
                      <a16:colId xmlns:a16="http://schemas.microsoft.com/office/drawing/2014/main" val="1366715491"/>
                    </a:ext>
                  </a:extLst>
                </a:gridCol>
              </a:tblGrid>
              <a:tr h="700216"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Normal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</a:t>
                      </a:r>
                      <a:endParaRPr lang="zh-CN" altLang="en-US" sz="22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FM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2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FBM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7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20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BR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2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FBR</a:t>
                      </a:r>
                    </a:p>
                    <a:p>
                      <a:pPr algn="ctr"/>
                      <a:r>
                        <a:rPr lang="en-US" altLang="zh-CN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r>
                        <a:rPr lang="zh-CN" altLang="en-US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，朝向</a:t>
                      </a:r>
                      <a:r>
                        <a:rPr lang="en-US" altLang="zh-CN" sz="22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2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30464B-A8BF-4A0F-B156-39EC69661184}"/>
              </a:ext>
            </a:extLst>
          </p:cNvPr>
          <p:cNvCxnSpPr>
            <a:cxnSpLocks/>
          </p:cNvCxnSpPr>
          <p:nvPr/>
        </p:nvCxnSpPr>
        <p:spPr>
          <a:xfrm>
            <a:off x="731838" y="1043614"/>
            <a:ext cx="1227670" cy="664865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55F16F9-93B7-4C06-B738-A820E7B82657}"/>
              </a:ext>
            </a:extLst>
          </p:cNvPr>
          <p:cNvSpPr txBox="1"/>
          <p:nvPr/>
        </p:nvSpPr>
        <p:spPr>
          <a:xfrm>
            <a:off x="731841" y="1318512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644CE5-DFC1-491A-ADB6-59DE85752D5F}"/>
              </a:ext>
            </a:extLst>
          </p:cNvPr>
          <p:cNvSpPr txBox="1"/>
          <p:nvPr/>
        </p:nvSpPr>
        <p:spPr>
          <a:xfrm>
            <a:off x="1204030" y="1022558"/>
            <a:ext cx="944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状态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99FEF1-29DC-43F8-8BFC-7C2DD6443DBB}"/>
              </a:ext>
            </a:extLst>
          </p:cNvPr>
          <p:cNvSpPr txBox="1">
            <a:spLocks/>
          </p:cNvSpPr>
          <p:nvPr/>
        </p:nvSpPr>
        <p:spPr bwMode="auto">
          <a:xfrm>
            <a:off x="955679" y="5497597"/>
            <a:ext cx="10728325" cy="45066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034" rtl="0" eaLnBrk="1" fontAlgn="base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</a:lstStyle>
          <a:p>
            <a:r>
              <a:rPr lang="zh-CN" altLang="en-US" sz="2000" dirty="0"/>
              <a:t>巴士体型较大，相比普通车辆</a:t>
            </a:r>
            <a:r>
              <a:rPr lang="en-US" altLang="zh-CN" sz="2000" dirty="0"/>
              <a:t>`</a:t>
            </a:r>
            <a:r>
              <a:rPr lang="zh-CN" altLang="en-US" sz="2000" dirty="0"/>
              <a:t>完成基本操作前</a:t>
            </a:r>
            <a:r>
              <a:rPr lang="en-US" altLang="zh-CN" sz="2000" dirty="0"/>
              <a:t>`</a:t>
            </a:r>
            <a:r>
              <a:rPr lang="zh-CN" altLang="en-US" sz="2000" dirty="0"/>
              <a:t>需要留一点空间执行普通操作</a:t>
            </a:r>
          </a:p>
        </p:txBody>
      </p:sp>
    </p:spTree>
    <p:extLst>
      <p:ext uri="{BB962C8B-B14F-4D97-AF65-F5344CB8AC3E}">
        <p14:creationId xmlns:p14="http://schemas.microsoft.com/office/powerpoint/2010/main" val="64410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i="0" dirty="0">
                <a:solidFill>
                  <a:srgbClr val="000000"/>
                </a:solidFill>
              </a:rPr>
              <a:t>实验3课后作业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7CEAAB-5BE7-485D-A2AF-56ABD3AAE11B}"/>
              </a:ext>
            </a:extLst>
          </p:cNvPr>
          <p:cNvSpPr txBox="1"/>
          <p:nvPr/>
        </p:nvSpPr>
        <p:spPr>
          <a:xfrm>
            <a:off x="731838" y="1483018"/>
            <a:ext cx="10728325" cy="91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完成巴士需求的所有功能，包括测试用例编写和功能实现</a:t>
            </a:r>
            <a:endParaRPr lang="en-US" altLang="zh-CN" sz="2000" dirty="0"/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合理组织代码，控制可见性在一个小的</a:t>
            </a:r>
            <a:r>
              <a:rPr lang="zh-CN" altLang="en-US" sz="2000"/>
              <a:t>范围内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>
            <a:extLst>
              <a:ext uri="{FF2B5EF4-FFF2-40B4-BE49-F238E27FC236}">
                <a16:creationId xmlns:a16="http://schemas.microsoft.com/office/drawing/2014/main" id="{9EF0AB6C-35D2-48E0-86B1-27900E976F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官网参考资料：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书籍：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2"/>
              </a:rPr>
              <a:t>https://doc.rust-lang.org/stable/book/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手册：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3"/>
              </a:rPr>
              <a:t>https://doc.rust-lang.org/reference/introduction.html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标准库：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4"/>
              </a:rPr>
              <a:t>https://doc.rust-lang.org/stable/std/</a:t>
            </a:r>
            <a:endParaRPr lang="zh-CN" altLang="en-US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011685"/>
      </p:ext>
    </p:extLst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55303</TotalTime>
  <Words>9030</Words>
  <Application>Microsoft Office PowerPoint</Application>
  <PresentationFormat>宽屏</PresentationFormat>
  <Paragraphs>809</Paragraphs>
  <Slides>39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Consolas</vt:lpstr>
      <vt:lpstr>Wingdings</vt:lpstr>
      <vt:lpstr>Huawei Sans</vt:lpstr>
      <vt:lpstr>方正兰亭黑简体</vt:lpstr>
      <vt:lpstr>Arial</vt:lpstr>
      <vt:lpstr>微软雅黑</vt:lpstr>
      <vt:lpstr>1_标题页模板</vt:lpstr>
      <vt:lpstr>2_功能页模板</vt:lpstr>
      <vt:lpstr>3_内容页模板</vt:lpstr>
      <vt:lpstr>4_感谢页模板</vt:lpstr>
      <vt:lpstr>4_内容页模板</vt:lpstr>
      <vt:lpstr>Rust语言企业软件开发实践</vt:lpstr>
      <vt:lpstr>PowerPoint 演示文稿</vt:lpstr>
      <vt:lpstr>PowerPoint 演示文稿</vt:lpstr>
      <vt:lpstr>回顾实验2，倒车功能测试用例</vt:lpstr>
      <vt:lpstr>回顾实验2，加速功能测试用例</vt:lpstr>
      <vt:lpstr>回顾实验2，加速和倒车组合测试用例</vt:lpstr>
      <vt:lpstr>回顾实验2，接口实现</vt:lpstr>
      <vt:lpstr>回顾实验2，指令编排实现</vt:lpstr>
      <vt:lpstr>回顾实验2，原子操作实现</vt:lpstr>
      <vt:lpstr>PowerPoint 演示文稿</vt:lpstr>
      <vt:lpstr>课程实训需求3-1：支持新的车辆类型-跑车</vt:lpstr>
      <vt:lpstr>支持新的车辆类型-跑车对外接口如何设计？</vt:lpstr>
      <vt:lpstr>支持跑车：接口定义</vt:lpstr>
      <vt:lpstr>支持跑车：指令执行分析</vt:lpstr>
      <vt:lpstr>方案分析</vt:lpstr>
      <vt:lpstr>方案设计</vt:lpstr>
      <vt:lpstr>方案实现：提炼抽象类型Assembler</vt:lpstr>
      <vt:lpstr>方案实现：普通车辆实现Assembler</vt:lpstr>
      <vt:lpstr>支持跑车：测试设计</vt:lpstr>
      <vt:lpstr>支持跑车：测试用例（共12个）</vt:lpstr>
      <vt:lpstr>完成跑车M指令的测试用例编写</vt:lpstr>
      <vt:lpstr>完成跑车M指令的测试用例编写-参考代码</vt:lpstr>
      <vt:lpstr>完成跑车M指令的功能实现，编写刚好让测试通过的代码</vt:lpstr>
      <vt:lpstr>PowerPoint 演示文稿</vt:lpstr>
      <vt:lpstr>练习时间：完成跑车L/R指令的测试用例编写和功能实现</vt:lpstr>
      <vt:lpstr>PowerPoint 演示文稿</vt:lpstr>
      <vt:lpstr>PowerPoint 演示文稿</vt:lpstr>
      <vt:lpstr>工程目录结构设计分析</vt:lpstr>
      <vt:lpstr>目录结构设计参考原则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课程实训需求3-2：支持新的车辆类型-巴士</vt:lpstr>
      <vt:lpstr>支持巴士：测试设计</vt:lpstr>
      <vt:lpstr>实验3课后作业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Guo Jian</cp:lastModifiedBy>
  <cp:revision>1070</cp:revision>
  <dcterms:created xsi:type="dcterms:W3CDTF">2018-11-29T10:16:29Z</dcterms:created>
  <dcterms:modified xsi:type="dcterms:W3CDTF">2026-05-21T01:30:15Z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(3)Yjprj6DGQ29JiV6XVoZ/yXZQQyRkGe4gFBQy9za9tV8XN8uYr1IwfrO4UecTmg7SQR6AgGZv
iXw1JsL9MY6wNcWXe64XT54KX0eL82BkTnMEw/1m/93j2YJS3cLLqTCfM1Fnv9MUcEDuW0Qv
92oof1FSkZel6oO8OnWXEqhsqFircZ9C1XuZWJ1Srgeq9H8GYc6XAvy6dCmr4WTRJepvbNC2
BZDe4/UYDLpyLcPLVy</vt:lpwstr>
  </property>
  <property fmtid="{D5CDD505-2E9C-101B-9397-08002B2CF9AE}" pid="3" name="_2015_ms_pID_7253431">
    <vt:lpwstr>RAVeBUBCTEtafIxT+kJLVAUhR4vFMtQonAQAub8Vaj8cPCeP+YhAmc
ux8LgIykGbWDzmjEFNQjG5cdPFEjtZGOgqfi4NNyQs7SofJoBLcSn8Oj+6aPfE0nqjGFwm26
r0e7qCgUrShWhJCxVbQOlqyfpTOQbgjENYVIs0hzGe5U4ZZocp7+BRDPO1zSOiYIL5tcIfXt
M2QkgdGxtU8E7FVPdtMVtTSS98tAMstke+MZ</vt:lpwstr>
  </property>
  <property fmtid="{D5CDD505-2E9C-101B-9397-08002B2CF9AE}" pid="4" name="_2015_ms_pID_7253432">
    <vt:lpwstr>9Q==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1730269083</vt:lpwstr>
  </property>
</Properties>
</file>